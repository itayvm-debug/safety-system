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7559675" cy="1069181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i5I/20IBLe7Cv6DfiuOXOV/xUT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7BFAB6-880C-4DBA-8417-BE7CAEC0AE5A}">
  <a:tblStyle styleId="{8D7BFAB6-880C-4DBA-8417-BE7CAEC0AE5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FFF4E6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FF4E6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2672" y="68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519751" y="2846250"/>
            <a:ext cx="65205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קופית כותרת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567000" y="1749826"/>
            <a:ext cx="6426000" cy="3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945000" y="5615776"/>
            <a:ext cx="5670000" cy="25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מקטע עליונה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515813" y="2665578"/>
            <a:ext cx="6520500" cy="44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515813" y="7155228"/>
            <a:ext cx="6520500" cy="23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ני תכנים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519751" y="2846250"/>
            <a:ext cx="32130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3827251" y="2846250"/>
            <a:ext cx="32130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השוואה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520735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520735" y="2621026"/>
            <a:ext cx="3198300" cy="12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520735" y="3905550"/>
            <a:ext cx="3198300" cy="57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3827251" y="2621026"/>
            <a:ext cx="3213900" cy="12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3827251" y="3905550"/>
            <a:ext cx="3213900" cy="57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בלבד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ריק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וכן עם כיתוב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520735" y="712800"/>
            <a:ext cx="2438400" cy="24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3213984" y="1539452"/>
            <a:ext cx="3827400" cy="75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520735" y="3207600"/>
            <a:ext cx="2438400" cy="59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מונה עם כיתוב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520735" y="712800"/>
            <a:ext cx="2438400" cy="24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3213984" y="1539452"/>
            <a:ext cx="3827400" cy="7598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520735" y="3207600"/>
            <a:ext cx="2438400" cy="59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טקסט אנכי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88051" y="2977950"/>
            <a:ext cx="6783900" cy="6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אנכית וטקסט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1694701" y="4284600"/>
            <a:ext cx="9060900" cy="16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-1612724" y="2701800"/>
            <a:ext cx="9060900" cy="47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519751" y="2846250"/>
            <a:ext cx="65205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>
            <a:spLocks noGrp="1"/>
          </p:cNvSpPr>
          <p:nvPr>
            <p:ph type="title"/>
          </p:nvPr>
        </p:nvSpPr>
        <p:spPr>
          <a:xfrm>
            <a:off x="0" y="908135"/>
            <a:ext cx="75600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haroni"/>
              <a:buNone/>
            </a:pPr>
            <a:r>
              <a:rPr lang="iw" sz="1800" b="1" u="sng">
                <a:latin typeface="Aharoni"/>
                <a:ea typeface="Aharoni"/>
                <a:cs typeface="Aharoni"/>
                <a:sym typeface="Aharoni"/>
              </a:rPr>
              <a:t>สรุปการฝึกอบรมด้านความปลอดภัยและคำแนะนำด้านความปลอดภัยในการทำงานในสถานที่ก่อสร้าง</a:t>
            </a:r>
            <a:endParaRPr sz="2400"/>
          </a:p>
        </p:txBody>
      </p:sp>
      <p:sp>
        <p:nvSpPr>
          <p:cNvPr id="86" name="Google Shape;86;p1"/>
          <p:cNvSpPr txBox="1">
            <a:spLocks noGrp="1"/>
          </p:cNvSpPr>
          <p:nvPr>
            <p:ph type="body" idx="1"/>
          </p:nvPr>
        </p:nvSpPr>
        <p:spPr>
          <a:xfrm>
            <a:off x="-26839" y="1616604"/>
            <a:ext cx="75600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" sz="2000" u="sng">
                <a:latin typeface="Aharoni"/>
                <a:ea typeface="Aharoni"/>
                <a:cs typeface="Aharoni"/>
                <a:sym typeface="Aharoni"/>
              </a:rPr>
              <a:t>อุปกรณ์ป้องกันส่วนบุคคล</a:t>
            </a:r>
            <a:endParaRPr sz="1800"/>
          </a:p>
        </p:txBody>
      </p:sp>
      <p:graphicFrame>
        <p:nvGraphicFramePr>
          <p:cNvPr id="87" name="Google Shape;87;p1"/>
          <p:cNvGraphicFramePr/>
          <p:nvPr/>
        </p:nvGraphicFramePr>
        <p:xfrm>
          <a:off x="157937" y="2694550"/>
          <a:ext cx="7244150" cy="2028317"/>
        </p:xfrm>
        <a:graphic>
          <a:graphicData uri="http://schemas.openxmlformats.org/drawingml/2006/table">
            <a:tbl>
              <a:tblPr firstRow="1" firstCol="1" bandRow="1">
                <a:noFill/>
                <a:tableStyleId>{8D7BFAB6-880C-4DBA-8417-BE7CAEC0AE5A}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การบาดเจ็บทางสรีรวิทยา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การบาดเจ็บที่แขนขาและดวงตา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ความเสียหายต่อสุขภาพ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การไม่ใช้อุปกรณ์ป้องกันภัยส่วนบุคคล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การไม่ตรวจสอบอุปกรณ์ป้องกันภัยส่วนบุคคล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การใช้อุปกรณ์ป้องกันภัยส่วนบุคคลอย่างไม่เหมาะสม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พนักงานแต่ละคนจะได้รับรองเท้าทำงานมาตรฐาน หมวกนิรภัย และเสื้อสะท้อนแสง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นอกจากนี้ พนักงานจะต้องใช้อุปกรณ์ป้องกันภัยส่วนบุคคลเพิ่มเติมตามประเภทของงาน และเป็นไปตามคำแนะนำของผู้ผลิตตามกฎหมายว่าด้วยอุปกรณ์ป้องกันภัยส่วนบุคคล หากมีข้อสงสัยใดๆ เกี่ยวกับเรื่องนี้ โปรดติดต่อกระทรวงกลาโหม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หากอุปกรณ์อยู่ในสภาพไม่ดี ให้เปลี่ยนใหม่ทันที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ลงนามของฉันในเอกสารฉบับนี้ถือเป็นการแสดงเจตนาที่จะใช้อุปกรณ์ป้องกันภัยส่วนบุคคลและปฏิบัติตามคำแนะนำที่ฉันได้รับ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r="74905"/>
          <a:stretch/>
        </p:blipFill>
        <p:spPr>
          <a:xfrm>
            <a:off x="300176" y="1423572"/>
            <a:ext cx="882908" cy="62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l="36083" r="33518"/>
          <a:stretch/>
        </p:blipFill>
        <p:spPr>
          <a:xfrm>
            <a:off x="1422400" y="1423572"/>
            <a:ext cx="1069504" cy="62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l="75636"/>
          <a:stretch/>
        </p:blipFill>
        <p:spPr>
          <a:xfrm>
            <a:off x="2632761" y="1423572"/>
            <a:ext cx="857138" cy="62482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167903" y="2056468"/>
            <a:ext cx="11619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5"/>
              <a:buFont typeface="Arial"/>
              <a:buNone/>
            </a:pPr>
            <a:r>
              <a:rPr lang="iw" sz="1155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แว่นตาเป็นสิ่งที่ต้องมี!</a:t>
            </a:r>
            <a:endParaRPr sz="7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329904" y="2048391"/>
            <a:ext cx="11619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5"/>
              <a:buFont typeface="Arial"/>
              <a:buNone/>
            </a:pPr>
            <a:r>
              <a:rPr lang="iw" sz="1155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การสวมหมวกนิรภัยเป็นสิ่งจำเป็น</a:t>
            </a:r>
            <a:endParaRPr sz="7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415797" y="2056468"/>
            <a:ext cx="11619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5"/>
              <a:buFont typeface="Arial"/>
              <a:buNone/>
            </a:pPr>
            <a:r>
              <a:rPr lang="iw" sz="1155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การสวมรองเท้าป้องกันเป็นสิ่งจำเป็น</a:t>
            </a:r>
            <a:endParaRPr sz="7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1"/>
          <p:cNvCxnSpPr/>
          <p:nvPr/>
        </p:nvCxnSpPr>
        <p:spPr>
          <a:xfrm>
            <a:off x="-175" y="6034402"/>
            <a:ext cx="7560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240" y="6574468"/>
            <a:ext cx="1013226" cy="86031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1666547" y="6520114"/>
            <a:ext cx="13302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iw" sz="13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ข้อควรระวัง</a:t>
            </a:r>
            <a:endParaRPr sz="13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iw" sz="13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รถแทรกเตอร์กำลังเคลื่อนที่</a:t>
            </a:r>
            <a:endParaRPr sz="13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-26839" y="6780190"/>
            <a:ext cx="75600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w" sz="2000" b="0" i="0" u="sng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อุปกรณ์เครื่องกลวิศวกรรม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8" name="Google Shape;98;p1"/>
          <p:cNvGraphicFramePr/>
          <p:nvPr/>
        </p:nvGraphicFramePr>
        <p:xfrm>
          <a:off x="157762" y="7500852"/>
          <a:ext cx="7244150" cy="2367280"/>
        </p:xfrm>
        <a:graphic>
          <a:graphicData uri="http://schemas.openxmlformats.org/drawingml/2006/table">
            <a:tbl>
              <a:tblPr firstRow="1" firstCol="1" bandRow="1">
                <a:noFill/>
                <a:tableStyleId>{8D7BFAB6-880C-4DBA-8417-BE7CAEC0AE5A}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รถชน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บาดเจ็บทางร่างกาย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ลื่นไถล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ชิ้นส่วนที่แตกหัก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การปฏิบัติงานโดยบุคลากรที่ไม่ได้รับอนุญาต/ขาดประสบการณ์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การบาดเจ็บของคนงานระหว่างการเปลี่ยนงาน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คนงานตกจากอุปกรณ์วิศวกรรม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การพลิกคว่ำของอุปกรณ์เครื่องกลวิศวกรรม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ปฏิบัติงานอุปกรณ์เครื่องกลวิศวกรรมต้องดำเนินการโดยบุคลากรที่มีใบอนุญาตและประสบการณ์เท่านั้น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อุปกรณ์เครื่องกลวิศวกรรมจะต้องมีแตรถอยหลัง ไฟหน้า แถบเรืองแสง และตัวตรวจสอบ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ขณะเคลื่อนที่หรือทำงาน โปรดระมัดระวังและรักษาระยะห่างที่ปลอดภัย เข้าใกล้อุปกรณ์เครื่องกลวิศวกรรมโดยสบตากับผู้ปฏิบัติงาน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ระวังอุปกรณ์เครื่องกลวิศวกรรมที่กำลังถอยหลัง ถอยหลังโดยมีเจ้าหน้าที่คุ้มกัน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ความเร็วสูงสุด 10 กม./ชม. ขึ้น/ลงจากรถจากจุดที่กำหนด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" name="תמונה 1">
            <a:extLst>
              <a:ext uri="{FF2B5EF4-FFF2-40B4-BE49-F238E27FC236}">
                <a16:creationId xmlns:a16="http://schemas.microsoft.com/office/drawing/2014/main" id="{0E71DFC0-28F0-6A3F-A18D-CE02A9D774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873" y="49241"/>
            <a:ext cx="2012422" cy="7097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0" y="908326"/>
            <a:ext cx="75600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haroni"/>
              <a:buNone/>
            </a:pPr>
            <a:r>
              <a:rPr lang="iw" sz="1979" b="1" u="sng">
                <a:latin typeface="Aharoni"/>
                <a:ea typeface="Aharoni"/>
                <a:cs typeface="Aharoni"/>
                <a:sym typeface="Aharoni"/>
              </a:rPr>
              <a:t>สรุปการฝึกอบรมด้านความปลอดภัยและคำแนะนำด้านความปลอดภัยในการทำงานในสถานที่ก่อสร้าง</a:t>
            </a:r>
            <a:endParaRPr sz="2970"/>
          </a:p>
        </p:txBody>
      </p:sp>
      <p:sp>
        <p:nvSpPr>
          <p:cNvPr id="104" name="Google Shape;104;p2"/>
          <p:cNvSpPr txBox="1">
            <a:spLocks noGrp="1"/>
          </p:cNvSpPr>
          <p:nvPr>
            <p:ph type="body" idx="1"/>
          </p:nvPr>
        </p:nvSpPr>
        <p:spPr>
          <a:xfrm>
            <a:off x="-325" y="1589265"/>
            <a:ext cx="75600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" sz="2000" u="sng">
                <a:latin typeface="Aharoni"/>
                <a:ea typeface="Aharoni"/>
                <a:cs typeface="Aharoni"/>
                <a:sym typeface="Aharoni"/>
              </a:rPr>
              <a:t>การทำงานบนที่สูง</a:t>
            </a:r>
            <a:endParaRPr sz="1800"/>
          </a:p>
        </p:txBody>
      </p:sp>
      <p:graphicFrame>
        <p:nvGraphicFramePr>
          <p:cNvPr id="105" name="Google Shape;105;p2"/>
          <p:cNvGraphicFramePr/>
          <p:nvPr/>
        </p:nvGraphicFramePr>
        <p:xfrm>
          <a:off x="157937" y="2694550"/>
          <a:ext cx="7244150" cy="3723132"/>
        </p:xfrm>
        <a:graphic>
          <a:graphicData uri="http://schemas.openxmlformats.org/drawingml/2006/table">
            <a:tbl>
              <a:tblPr firstRow="1" firstCol="1" bandRow="1">
                <a:noFill/>
                <a:tableStyleId>{8D7BFAB6-880C-4DBA-8417-BE7CAEC0AE5A}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การตกจากที่สูงและนั่งร้าน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การตกจากอุปกรณ์ทำงานบนที่สูง เช่น แท่นและบันได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ไฟฟ้าช็อตที่ความสูง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พนักงานที่ไม่มีคุณสมบัติหรือทักษะในการทำงานบนที่สูง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อุปกรณ์ทำงานไม่ถูกต้อง/ไม่ถูกต้อง/ไม่เหมาะสม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ไม่มีราวกั้นมาตรฐานและปลอดภัยเพื่อป้องกันการตก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ความล้มเหลวที่จุดยึด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คำจำกัดความ: การทำงานบนที่สูงโดยมีความเสี่ยงที่จะตกถึงความลึก 2 เมตร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ไม่มีราวกั้นมาตรฐาน เอียงร่างกายเกินราวกั้นจากความสูงของอุปกรณ์ทำงานของตะกร้ายก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ตะกร้ายกนั่งร้านแบบใช้เครื่องจักร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อุปกรณ์ป้องกันภัยส่วนบุคคลและอุปกรณ์ช่วยในการทำงานบนที่สูง: จะได้รับการตรวจสอบก่อนใช้งาน ทำงานตามข้อบังคับการทำงานบนที่สูงและคำแนะนำของผู้ผลิต รายงานข้อบกพร่องหรือข้อบกพร่องใดๆ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บันได: ปีนขึ้นไปหนึ่งเมตรจากขอบด้านบน ห้ามเดิน ห้ามทำงานเป็นเวลานาน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แพลตฟอร์มนั่งร้านและตะกร้า: ทำงานโดยได้รับอนุญาตจากหัวหน้างาน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นั่งร้าน/พื้นผิวการทำงาน: ห้ามถอดประกอบชิ้นส่วน กว้างอย่างน้อย 60 ซม. ปีน/ลงจากบันได ห้ามวางบันไดบนนั่งร้าน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ทั่วไป: ทำงานในสภาพอากาศและสภาพแสงที่เหมาะสมสำหรับการทำงานและการใช้งานอุปกรณ์ จุดยึด 1.5 ตัน ทำงานที่ความสูงอย่างน้อยสองคน ต้องใช้หมวกนิรภัยพร้อมสายรัดนิรภัย สายรัดนิรภัยแบบเต็มตัว ระบบป้องกัน/พยุงตัวจากการตก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6" name="Google Shape;106;p2"/>
          <p:cNvSpPr txBox="1"/>
          <p:nvPr/>
        </p:nvSpPr>
        <p:spPr>
          <a:xfrm>
            <a:off x="0" y="2056467"/>
            <a:ext cx="1512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lang="iw" sz="1200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บันไดชำรุด</a:t>
            </a:r>
            <a:endParaRPr sz="1200" b="1" i="0" u="none" strike="noStrike" cap="none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lang="iw" sz="1200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ห้ามใช้</a:t>
            </a:r>
            <a:endParaRPr sz="1200" b="1" i="0" u="none" strike="noStrike" cap="none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329904" y="2048391"/>
            <a:ext cx="11619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"/>
              <a:buFont typeface="Arial"/>
              <a:buNone/>
            </a:pPr>
            <a:r>
              <a:rPr lang="iw" sz="1470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ระวังตก</a:t>
            </a:r>
            <a:endParaRPr sz="9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r="60080"/>
          <a:stretch/>
        </p:blipFill>
        <p:spPr>
          <a:xfrm>
            <a:off x="302451" y="1430173"/>
            <a:ext cx="892907" cy="618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l="53635"/>
          <a:stretch/>
        </p:blipFill>
        <p:spPr>
          <a:xfrm>
            <a:off x="1378687" y="1453329"/>
            <a:ext cx="1037110" cy="61821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w"/>
              <a:t>คำแนะนำด้านความปลอดภัยของพนักงาน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B1321F21-16D2-5224-9A6A-DEE4E5ED7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873" y="49241"/>
            <a:ext cx="2012422" cy="7097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" name="Google Shape;116;p3"/>
          <p:cNvGraphicFramePr/>
          <p:nvPr/>
        </p:nvGraphicFramePr>
        <p:xfrm>
          <a:off x="157762" y="2511026"/>
          <a:ext cx="7244150" cy="3214688"/>
        </p:xfrm>
        <a:graphic>
          <a:graphicData uri="http://schemas.openxmlformats.org/drawingml/2006/table">
            <a:tbl>
              <a:tblPr firstRow="1" firstCol="1" bandRow="1">
                <a:noFill/>
                <a:tableStyleId>{8D7BFAB6-880C-4DBA-8417-BE7CAEC0AE5A}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ไฟฟ้าช็อต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แผลไหม้\การบาดเจ็บที่ดวงตา\ไฟไหม้จากอาร์กแฟลช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การใช้อุปกรณ์ไฟฟ้าที่ชำรุดหรือไม่ถูกต้อง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การซ่อมแซมโดยบุคคลที่ไม่ได้รับอนุญาต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ความเสียหายต่อสายเคเบิลและโครงสร้างพื้นฐานทางไฟฟ้า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ไฟฟ้าช็อตจากกระแสไฟฟ้าที่มีกระแสไฟฟ้าไหลผ่าน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สายไฟต่อพ่วงในสภาพแวดล้อมที่เปียกชื้น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อุปกรณ์ไฟฟ้า: การใช้งานตามวัตถุประสงค์การใช้งานและคำแนะนำของผู้ผลิต จะต้องได้รับการตรวจสอบโดยช่างไฟฟ้าที่ได้รับการรับรอง และก่อนใช้งาน หากใช้งานไม่ถูกต้อง ต้องหยุดงานและแจ้งให้หัวหน้างานทราบ ห้ามรื้อแผงกั้นและแผงกั้น ซ่อมแซมโดยผู้มีอำนาจ ห้ามใช้งานในสภาพแวดล้อมที่เปียกชื้น พนักงานต้องมีความรู้ในการใช้งานอุปกรณ์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สายไฟ: ฉนวนสองชั้น ไม่วางบนพื้นหรือในสภาพแวดล้อมที่เปียกชื้น เต้ารับ/ปลั๊กอุตสาหกรรม ป้อนผ่านท่อร้อยสาย เชื่อมต่อหลังจากใช้งานแล้ว ถอดปลั๊กออกก่อนพับเก็บ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งานไฟฟ้า: ไม่ใช้แรงดันไฟฟ้า อยู่ภายใต้การดูแลของช่างไฟฟ้าที่มีใบอนุญาต ล็อคแหล่งจ่ายไฟและปิดสวิตช์ ห้ามทำงานในสภาพแวดล้อมที่เปียกชื้น ไม่มีแสงสว่างเพียงพอ และในสภาพอากาศที่อันตราย รักษาระยะห่างอย่างน้อย 5 เมตรจากเครือข่ายไฟฟ้าเหนือศีรษะ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7" name="Google Shape;117;p3"/>
          <p:cNvSpPr txBox="1"/>
          <p:nvPr/>
        </p:nvSpPr>
        <p:spPr>
          <a:xfrm>
            <a:off x="116253" y="1582605"/>
            <a:ext cx="10788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75"/>
              <a:buFont typeface="Arial"/>
              <a:buNone/>
            </a:pPr>
            <a:r>
              <a:rPr lang="iw" sz="875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อันตราย!</a:t>
            </a:r>
            <a:endParaRPr sz="875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ctr" rtl="1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75"/>
              <a:buFont typeface="Arial"/>
              <a:buNone/>
            </a:pPr>
            <a:endParaRPr sz="875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-160006" y="1140693"/>
            <a:ext cx="7560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w" sz="2000" b="0" i="0" u="sng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ไฟฟ้าและอุปกรณ์ไฟฟ้าเคลื่อนที่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 r="54901"/>
          <a:stretch/>
        </p:blipFill>
        <p:spPr>
          <a:xfrm>
            <a:off x="157608" y="867710"/>
            <a:ext cx="966150" cy="668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l="59313"/>
          <a:stretch/>
        </p:blipFill>
        <p:spPr>
          <a:xfrm>
            <a:off x="1341685" y="867710"/>
            <a:ext cx="871649" cy="668343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1329578" y="1582605"/>
            <a:ext cx="10788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iw" sz="1400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การป้องกันเป็นสิ่งสำคัญ!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3"/>
          <p:cNvPicPr preferRelativeResize="0"/>
          <p:nvPr/>
        </p:nvPicPr>
        <p:blipFill rotWithShape="1">
          <a:blip r:embed="rId4">
            <a:alphaModFix/>
          </a:blip>
          <a:srcRect r="50000"/>
          <a:stretch/>
        </p:blipFill>
        <p:spPr>
          <a:xfrm>
            <a:off x="211810" y="6259035"/>
            <a:ext cx="955633" cy="65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 rotWithShape="1">
          <a:blip r:embed="rId4">
            <a:alphaModFix/>
          </a:blip>
          <a:srcRect l="54398"/>
          <a:stretch/>
        </p:blipFill>
        <p:spPr>
          <a:xfrm>
            <a:off x="1316079" y="6259035"/>
            <a:ext cx="871537" cy="659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 txBox="1"/>
          <p:nvPr/>
        </p:nvSpPr>
        <p:spPr>
          <a:xfrm>
            <a:off x="2527819" y="6357475"/>
            <a:ext cx="4815786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w" sz="2000" b="0" i="0" u="sng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งานยกของ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6" name="Google Shape;126;p3"/>
          <p:cNvGraphicFramePr/>
          <p:nvPr/>
        </p:nvGraphicFramePr>
        <p:xfrm>
          <a:off x="155844" y="7138243"/>
          <a:ext cx="7244150" cy="2028317"/>
        </p:xfrm>
        <a:graphic>
          <a:graphicData uri="http://schemas.openxmlformats.org/drawingml/2006/table">
            <a:tbl>
              <a:tblPr firstRow="1" firstCol="1" bandRow="1">
                <a:noFill/>
                <a:tableStyleId>{8D7BFAB6-880C-4DBA-8417-BE7CAEC0AE5A}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การบาดเจ็บทางร่างกาย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การบาดเจ็บที่แขนขา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การถูกทับ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การบาดเจ็บที่ศีรษะ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อุปกรณ์ยก/อุปกรณ์เสริมชำรุด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การบาดเจ็บของคนงานจากน้ำหนักบรรทุกที่ยกขึ้น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ชิ้นส่วนที่บรรทุกตก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อุปกรณ์ยกและอุปกรณ์เสริมสำหรับยก: จะได้รับการตรวจสอบโดยผู้ตรวจสอบที่มีคุณสมบัติเหมาะสม และก่อนใช้งาน จะดำเนินการโดยผู้ปฏิบัติงานที่มีใบอนุญาตและมีประสบการณ์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งานยก: ได้รับการอนุมัติจากหัวหน้างาน กั้นรั้วบริเวณที่ยก ผูกและนำทางด้วยพลั่ว ห้ามทำงานภายใต้น้ำหนักบรรทุกที่ยกขึ้น ยกของสูงจากพื้นหนึ่งเมตร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การป้องกันชิ้นส่วนตก: ยกด้วยเครื่องมือที่กำหนด ผูกและยึดน้ำหนักบรรทุก ทำงานอย่างระมัดระวังและตั้งฉาก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7" name="Google Shape;127;p3"/>
          <p:cNvCxnSpPr/>
          <p:nvPr/>
        </p:nvCxnSpPr>
        <p:spPr>
          <a:xfrm>
            <a:off x="8119" y="6066906"/>
            <a:ext cx="7560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8" name="Google Shape;128;p3"/>
          <p:cNvSpPr txBox="1"/>
          <p:nvPr/>
        </p:nvSpPr>
        <p:spPr>
          <a:xfrm>
            <a:off x="8119" y="6869784"/>
            <a:ext cx="25197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lang="iw" sz="12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อันตราย! ห้ามยืนใต้สิ่งของที่ยกสูง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C5368CB7-9B7A-4D1A-9CA1-569CFD6495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873" y="49241"/>
            <a:ext cx="2012422" cy="7097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>
            <a:spLocks noGrp="1"/>
          </p:cNvSpPr>
          <p:nvPr>
            <p:ph type="title"/>
          </p:nvPr>
        </p:nvSpPr>
        <p:spPr>
          <a:xfrm>
            <a:off x="0" y="908326"/>
            <a:ext cx="75600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haroni"/>
              <a:buNone/>
            </a:pPr>
            <a:r>
              <a:rPr lang="iw" sz="2160" b="1" u="sng">
                <a:latin typeface="Aharoni"/>
                <a:ea typeface="Aharoni"/>
                <a:cs typeface="Aharoni"/>
                <a:sym typeface="Aharoni"/>
              </a:rPr>
              <a:t>สรุปการฝึกอบรมด้านความปลอดภัยและคำแนะนำด้านความปลอดภัยในการทำงานในสถานที่ก่อสร้าง</a:t>
            </a:r>
            <a:endParaRPr sz="2970"/>
          </a:p>
        </p:txBody>
      </p:sp>
      <p:sp>
        <p:nvSpPr>
          <p:cNvPr id="134" name="Google Shape;134;p4"/>
          <p:cNvSpPr txBox="1">
            <a:spLocks noGrp="1"/>
          </p:cNvSpPr>
          <p:nvPr>
            <p:ph type="body" idx="1"/>
          </p:nvPr>
        </p:nvSpPr>
        <p:spPr>
          <a:xfrm>
            <a:off x="-301168" y="1781359"/>
            <a:ext cx="75483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" sz="2000" u="sng">
                <a:latin typeface="Aharoni"/>
                <a:ea typeface="Aharoni"/>
                <a:cs typeface="Aharoni"/>
                <a:sym typeface="Aharoni"/>
              </a:rPr>
              <a:t>การขุดค้น</a:t>
            </a:r>
            <a:endParaRPr sz="1800"/>
          </a:p>
        </p:txBody>
      </p:sp>
      <p:graphicFrame>
        <p:nvGraphicFramePr>
          <p:cNvPr id="135" name="Google Shape;135;p4"/>
          <p:cNvGraphicFramePr/>
          <p:nvPr/>
        </p:nvGraphicFramePr>
        <p:xfrm>
          <a:off x="157937" y="2694550"/>
          <a:ext cx="7244150" cy="2197799"/>
        </p:xfrm>
        <a:graphic>
          <a:graphicData uri="http://schemas.openxmlformats.org/drawingml/2006/table">
            <a:tbl>
              <a:tblPr firstRow="1" firstCol="1" bandRow="1">
                <a:noFill/>
                <a:tableStyleId>{8D7BFAB6-880C-4DBA-8417-BE7CAEC0AE5A}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100"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พลัดตก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การพังทลายของพื้นที่ขุด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ไฟฟ้าช็อต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การถูกกระแทก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คนงานตกลงไปในหลุมขุด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หลุมขุดถล่ม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โครงสร้างพื้นฐานเสียหาย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อุปกรณ์ก่อสร้างพลิกคว่ำ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รถไถตีนตะขาบชน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การขุดจะต้องดำเนินการโดยได้รับอนุมัติจากหัวหน้างาน และหลังจากการสแกนโครงสร้างพื้นฐานและสัตว์แล้ว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การทำงานใกล้โครงสร้างพื้นฐานด้วยเครื่องมือช่างและด้วยความระมัดระวัง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การขึ้นและลงจากจุดที่กำหนด ต้องมีรั้วและป้ายบอกทางสำหรับการขุด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การขุดต้องเป็นไปตามความลาดชันตามธรรมชาติ/การถมดิน และใช้มาตรการป้องกันการพังทลาย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ความกว้างของการขุดต้องเอื้ออำนวยต่อการทำงาน ทางเดินเหนือพื้นที่ขุดต้องกว้าง 60 ซม.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อุปกรณ์วิศวกรรมต้องเข้าใกล้ในระยะที่ปลอดภัย คนงานต้องไม่ทำงานใกล้กับอุปกรณ์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6" name="Google Shape;136;p4"/>
          <p:cNvSpPr txBox="1"/>
          <p:nvPr/>
        </p:nvSpPr>
        <p:spPr>
          <a:xfrm>
            <a:off x="29643" y="1867663"/>
            <a:ext cx="1407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iw" sz="13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อันตราย!</a:t>
            </a:r>
            <a:endParaRPr sz="13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iw" sz="13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เปิดช่อง</a:t>
            </a:r>
            <a:endParaRPr sz="13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cxnSp>
        <p:nvCxnSpPr>
          <p:cNvPr id="137" name="Google Shape;137;p4"/>
          <p:cNvCxnSpPr/>
          <p:nvPr/>
        </p:nvCxnSpPr>
        <p:spPr>
          <a:xfrm>
            <a:off x="-54448" y="6882024"/>
            <a:ext cx="7560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8" name="Google Shape;138;p4"/>
          <p:cNvSpPr txBox="1"/>
          <p:nvPr/>
        </p:nvSpPr>
        <p:spPr>
          <a:xfrm>
            <a:off x="1406730" y="7268713"/>
            <a:ext cx="12249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iw" sz="1400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ห้ามจุดไฟ เปลวไฟ และการสูบบุหรี่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-104615" y="7252482"/>
            <a:ext cx="75744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w" sz="2000" b="0" i="0" u="sng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งานยอดนิยม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0" name="Google Shape;140;p4"/>
          <p:cNvGraphicFramePr/>
          <p:nvPr/>
        </p:nvGraphicFramePr>
        <p:xfrm>
          <a:off x="225635" y="8180351"/>
          <a:ext cx="7244150" cy="2197799"/>
        </p:xfrm>
        <a:graphic>
          <a:graphicData uri="http://schemas.openxmlformats.org/drawingml/2006/table">
            <a:tbl>
              <a:tblPr firstRow="1" firstCol="1" bandRow="1">
                <a:noFill/>
                <a:tableStyleId>{8D7BFAB6-880C-4DBA-8417-BE7CAEC0AE5A}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การบาดเจ็บที่ดวงตา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แผลไหม้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ไฟไหม้/ไฟไหม้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การระเบิด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ไฟฟ้าช็อต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การใช้อุปกรณ์ป้องกันภัยส่วนบุคคลอย่างไม่เหมาะสม, อุปกรณ์ขัดข้อง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ถังแก๊สระเบิด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เพลิงไหม้พนักงาน/อุปกรณ์/สิ่งแวดล้อม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งานร้อน: หลังจากได้รับการอนุมัติจากหัวหน้างานแล้ว ควรมีการป้องกันโครงสร้างพื้นฐาน อุปกรณ์ป้องกันภัยส่วนบุคคลที่เหมาะสม เฝ้าระวังเพลิงไหม้ในพื้นที่ระหว่างและหลังการปฏิบัติงาน จัดเก็บวัสดุไวไฟ/ติดไฟได้ให้ห่างจากพื้นที่อย่างน้อย 10 เมตร จัดเตรียมอุปกรณ์ดับเพลิงที่เหมาะสม เก็บสายไฟฟ้าให้ห่างจากพื้นที่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ถังแก๊ส: ใช้งานโดยช่างผู้ชำนาญ ขนส่งอย่างปลอดภัย ติดตั้งในแนวตั้งฉากกับพื้น ใช้ฝาปิด ป้องกันน้ำมันให้ห่างจากแหล่งความร้อน ติดตั้งท่อที่เหมาะสมพร้อมอุปกรณ์นิรภัยที่ได้มาตรฐาน ถูกต้อง และใช้งานได้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1" name="Google Shape;14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543" y="1336293"/>
            <a:ext cx="868725" cy="626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097" y="7188340"/>
            <a:ext cx="955633" cy="748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A7A993F1-7F02-DAC9-FEF5-7F9A9CA19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873" y="49241"/>
            <a:ext cx="2012422" cy="7097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>
            <a:spLocks noGrp="1"/>
          </p:cNvSpPr>
          <p:nvPr>
            <p:ph type="title"/>
          </p:nvPr>
        </p:nvSpPr>
        <p:spPr>
          <a:xfrm>
            <a:off x="0" y="120535"/>
            <a:ext cx="75600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haroni"/>
              <a:buNone/>
            </a:pPr>
            <a:r>
              <a:rPr lang="iw" sz="2160" b="1" u="sng">
                <a:latin typeface="Aharoni"/>
                <a:ea typeface="Aharoni"/>
                <a:cs typeface="Aharoni"/>
                <a:sym typeface="Aharoni"/>
              </a:rPr>
              <a:t>สรุปการฝึกอบรมด้านความปลอดภัยและคำแนะนำด้านความปลอดภัยในการทำงานในสถานที่ก่อสร้าง</a:t>
            </a:r>
            <a:endParaRPr sz="2970"/>
          </a:p>
        </p:txBody>
      </p:sp>
      <p:sp>
        <p:nvSpPr>
          <p:cNvPr id="149" name="Google Shape;149;p5"/>
          <p:cNvSpPr txBox="1">
            <a:spLocks noGrp="1"/>
          </p:cNvSpPr>
          <p:nvPr>
            <p:ph type="body" idx="1"/>
          </p:nvPr>
        </p:nvSpPr>
        <p:spPr>
          <a:xfrm>
            <a:off x="-36779" y="800172"/>
            <a:ext cx="75366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" sz="2000" u="sng">
                <a:latin typeface="Aharoni"/>
                <a:ea typeface="Aharoni"/>
                <a:cs typeface="Aharoni"/>
                <a:sym typeface="Aharoni"/>
              </a:rPr>
              <a:t>วัสดุอันตราย</a:t>
            </a:r>
            <a:endParaRPr sz="1800"/>
          </a:p>
        </p:txBody>
      </p:sp>
      <p:graphicFrame>
        <p:nvGraphicFramePr>
          <p:cNvPr id="150" name="Google Shape;150;p5"/>
          <p:cNvGraphicFramePr/>
          <p:nvPr>
            <p:extLst>
              <p:ext uri="{D42A27DB-BD31-4B8C-83A1-F6EECF244321}">
                <p14:modId xmlns:p14="http://schemas.microsoft.com/office/powerpoint/2010/main" val="4070288172"/>
              </p:ext>
            </p:extLst>
          </p:nvPr>
        </p:nvGraphicFramePr>
        <p:xfrm>
          <a:off x="157763" y="1791922"/>
          <a:ext cx="7244150" cy="1316038"/>
        </p:xfrm>
        <a:graphic>
          <a:graphicData uri="http://schemas.openxmlformats.org/drawingml/2006/table">
            <a:tbl>
              <a:tblPr firstRow="1" firstCol="1" bandRow="1">
                <a:noFill/>
                <a:tableStyleId>{8D7BFAB6-880C-4DBA-8417-BE7CAEC0AE5A}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100"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สำลัก/เวียนศีรษะ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แผลไฟไหม้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ไฟไหม้/ระเบิด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โรคจากการประกอบอาชีพ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การใช้สารที่เป็นอันตรายต่อสุขภาพ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อุปกรณ์ป้องกันส่วนบุคคลไม่เหมาะสมกับอันตราย/ไม่เหมาะสม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การทำงานในบริเวณที่ไม่มีการระบายอากาศ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ใช้สารเคมีหลังจากได้รับคำแนะนำด้านความปลอดภัยตามเอกสารข้อมูลความปลอดภัยของวัสดุ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ทำงานโดยใช้อุปกรณ์ป้องกันภัยส่วนบุคคลตามเอกสารข้อมูลความปลอดภัยของวัสดุ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ระบายอากาศในสถานที่ทำงานและป้องกันไฟให้ห่างจากวัสดุไวไฟ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ทำลายบรรจุภัณฑ์/ภาชนะเปล่าหลังการใช้งาน และอย่าทิ้งไว้ในพื้นที่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1" name="Google Shape;151;p5"/>
          <p:cNvSpPr txBox="1"/>
          <p:nvPr/>
        </p:nvSpPr>
        <p:spPr>
          <a:xfrm>
            <a:off x="59854" y="1093778"/>
            <a:ext cx="1407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iw" sz="13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อันตราย!</a:t>
            </a:r>
            <a:endParaRPr sz="13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iw" sz="13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วัสดุอันตราย</a:t>
            </a:r>
            <a:endParaRPr sz="13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cxnSp>
        <p:nvCxnSpPr>
          <p:cNvPr id="152" name="Google Shape;152;p5"/>
          <p:cNvCxnSpPr/>
          <p:nvPr/>
        </p:nvCxnSpPr>
        <p:spPr>
          <a:xfrm>
            <a:off x="-325" y="3190874"/>
            <a:ext cx="7560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3" name="Google Shape;153;p5"/>
          <p:cNvSpPr txBox="1"/>
          <p:nvPr/>
        </p:nvSpPr>
        <p:spPr>
          <a:xfrm>
            <a:off x="129533" y="4069107"/>
            <a:ext cx="31884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iw" sz="1300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การยกที่ถูกต้องช่วยป้องกันความทุกข์ทรมานได้มาก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-133740" y="3450825"/>
            <a:ext cx="75600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w" sz="2000" b="0" i="0" u="sng" strike="noStrike" cap="none" dirty="0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แนวทางความปลอดภัยทั่วไป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5" name="Google Shape;155;p5"/>
          <p:cNvGraphicFramePr/>
          <p:nvPr>
            <p:extLst>
              <p:ext uri="{D42A27DB-BD31-4B8C-83A1-F6EECF244321}">
                <p14:modId xmlns:p14="http://schemas.microsoft.com/office/powerpoint/2010/main" val="3530611932"/>
              </p:ext>
            </p:extLst>
          </p:nvPr>
        </p:nvGraphicFramePr>
        <p:xfrm>
          <a:off x="129533" y="4504582"/>
          <a:ext cx="7244100" cy="2343277"/>
        </p:xfrm>
        <a:graphic>
          <a:graphicData uri="http://schemas.openxmlformats.org/drawingml/2006/table">
            <a:tbl>
              <a:tblPr firstRow="1" firstCol="1" bandRow="1">
                <a:noFill/>
                <a:tableStyleId>{8D7BFAB6-880C-4DBA-8417-BE7CAEC0AE5A}</a:tableStyleId>
              </a:tblPr>
              <a:tblGrid>
                <a:gridCol w="360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450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ทำ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อย่า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เข้าสู่พื้นที่ปฏิบัติงานผ่านทางเข้าที่กำหนด และระมัดระวังอุปกรณ์วิศวกรรม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ปฏิบัติตามป้ายเตือนในพื้นที่ปฏิบัติงาน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ยกอุปกรณ์และวัสดุให้ชิดลำตัวและน้ำหนักไม่เกิน 25 กิโลกรัม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เริ่มยกโดยงอเข่า ใช้คนงานเพิ่ม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ปิดช่องเปิดและหลุมเพื่อป้องกันไม่ให้คนงานตก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รายงานข้อบกพร่อง อันตราย อันตราย/เหตุการณ์อันตราย/อุบัติเหตุใดๆ ต่อฝ่ายความปลอดภัยและอาชีวอนามัย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ปรึกษาหัวหน้างานฝ่ายความปลอดภัยและอาชีวอนามัยเกี่ยวกับงานใดๆ ที่คุณไม่เข้าใจ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อยู่ในพื้นที่ปฏิบัติงานตราบเท่าที่หัวหน้างานอยู่ในพื้นที่ปฏิบัติงาน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อย่าทำงานที่สูงหรือต่ำกว่าคนงานอื่น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หากต้องการปฐมพยาบาล โปรดติดต่อหัวหน้างาน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ตรวจสอบให้แน่ใจว่ามีแสงสว่างเพียงพอเพื่อปฏิบัติงานอย่างปลอดภัย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ห้ามใช้โทรศัพท์ขณะเดินหรือปฏิบัติงาน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ห้ามซ่อมแซม/ใช้งานอุปกรณ์ที่ไม่คุ้นเคย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ห้ามกระทำการใดๆ ที่อาจก่อให้เกิดอันตรายแก่ตนเองหรือผู้อื่นโดยเจตนา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ห้ามใช้อุปกรณ์ที่ไม่ทำงานอย่างถูกต้องหรือไม่เหมาะสมกับงาน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ห้ามรื้อราวบันได/รั้วโดยไม่ได้รับอนุญาตจากหัวหน้างาน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ห้ามทิ้งวัสดุ/อุปกรณ์ ต้องปล่อยลงอย่างควบคุม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ห้ามกระโดด/ปีนข้ามนั่งร้านหรือบันได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ห้ามบรรทุกน้ำหนักเกินน้ำหนักที่อนุญาต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ห้ามทำงานในสถานที่ที่มีความเสี่ยงต่อการตก และไม่มีวิธีป้องกันการตก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ห้ามปฏิบัติงานหากไม่ชัดเจนในเชิงวิชาชีพและความปลอดภัย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ห้ามปฏิบัติงานเพียงลำพัง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6" name="Google Shape;15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242" y="517381"/>
            <a:ext cx="863885" cy="701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233" y="3243994"/>
            <a:ext cx="2392428" cy="83614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 txBox="1">
            <a:spLocks noGrp="1"/>
          </p:cNvSpPr>
          <p:nvPr>
            <p:ph type="ftr" idx="11"/>
          </p:nvPr>
        </p:nvSpPr>
        <p:spPr>
          <a:xfrm>
            <a:off x="2504251" y="10247527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w" dirty="0"/>
              <a:t>คำแนะนำด้านความปลอดภัยของพนักงาน</a:t>
            </a:r>
            <a:endParaRPr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7490FCF6-3D87-DA11-7114-539FF8F27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763" y="10066622"/>
            <a:ext cx="1385287" cy="4885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1811</Words>
  <Application>Microsoft Office PowerPoint</Application>
  <PresentationFormat>מותאם אישית</PresentationFormat>
  <Paragraphs>175</Paragraphs>
  <Slides>5</Slides>
  <Notes>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10" baseType="lpstr">
      <vt:lpstr>Aharoni</vt:lpstr>
      <vt:lpstr>Arial</vt:lpstr>
      <vt:lpstr>Calibri</vt:lpstr>
      <vt:lpstr>Noto Sans Symbols</vt:lpstr>
      <vt:lpstr>ערכת נושא Office</vt:lpstr>
      <vt:lpstr>สรุปการฝึกอบรมด้านความปลอดภัยและคำแนะนำด้านความปลอดภัยในการทำงานในสถานที่ก่อสร้าง</vt:lpstr>
      <vt:lpstr>สรุปการฝึกอบรมด้านความปลอดภัยและคำแนะนำด้านความปลอดภัยในการทำงานในสถานที่ก่อสร้าง</vt:lpstr>
      <vt:lpstr>מצגת של PowerPoint‏</vt:lpstr>
      <vt:lpstr>สรุปการฝึกอบรมด้านความปลอดภัยและคำแนะนำด้านความปลอดภัยในการทำงานในสถานที่ก่อสร้าง</vt:lpstr>
      <vt:lpstr>สรุปการฝึกอบรมด้านความปลอดภัยและคำแนะนำด้านความปลอดภัยในการทำงานในสถานที่ก่อสร้าง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Mark Bazanov</dc:creator>
  <cp:lastModifiedBy>איתי ולדמן</cp:lastModifiedBy>
  <cp:revision>4</cp:revision>
  <dcterms:modified xsi:type="dcterms:W3CDTF">2026-08-22T17:53:26Z</dcterms:modified>
</cp:coreProperties>
</file>