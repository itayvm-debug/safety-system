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
  </p:notesMasterIdLst>
  <p:sldIdLst>
    <p:sldId id="256" r:id="rId2"/>
    <p:sldId id="257" r:id="rId3"/>
    <p:sldId id="258" r:id="rId4"/>
    <p:sldId id="259" r:id="rId5"/>
  </p:sldIdLst>
  <p:sldSz cx="6858000" cy="12192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84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gYGP4rMCbjZ4MejmSR4zKf9qKW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6D6766-C3E4-4BB9-BE31-83216EC31A9B}">
  <a:tblStyle styleId="{FB6D6766-C3E4-4BB9-BE31-83216EC31A9B}" styleName="Table_0">
    <a:wholeTbl>
      <a:tcTxStyle b="off" i="off">
        <a:font>
          <a:latin typeface="Calibri"/>
          <a:ea typeface="Calibri"/>
          <a:cs typeface="Calibri"/>
        </a:font>
        <a:schemeClr val="dk1"/>
      </a:tcTxStyle>
      <a:tcStyle>
        <a:tcBdr>
          <a:left>
            <a:ln w="12700" cap="flat" cmpd="sng">
              <a:solidFill>
                <a:schemeClr val="accent4"/>
              </a:solidFill>
              <a:prstDash val="solid"/>
              <a:round/>
              <a:headEnd type="none" w="sm" len="sm"/>
              <a:tailEnd type="none" w="sm" len="sm"/>
            </a:ln>
          </a:left>
          <a:right>
            <a:ln w="12700" cap="flat" cmpd="sng">
              <a:solidFill>
                <a:schemeClr val="accent4"/>
              </a:solidFill>
              <a:prstDash val="solid"/>
              <a:round/>
              <a:headEnd type="none" w="sm" len="sm"/>
              <a:tailEnd type="none" w="sm" len="sm"/>
            </a:ln>
          </a:right>
          <a:top>
            <a:ln w="12700" cap="flat" cmpd="sng">
              <a:solidFill>
                <a:schemeClr val="accent4"/>
              </a:solidFill>
              <a:prstDash val="solid"/>
              <a:round/>
              <a:headEnd type="none" w="sm" len="sm"/>
              <a:tailEnd type="none" w="sm" len="sm"/>
            </a:ln>
          </a:top>
          <a:bottom>
            <a:ln w="12700" cap="flat" cmpd="sng">
              <a:solidFill>
                <a:schemeClr val="accent4"/>
              </a:solidFill>
              <a:prstDash val="solid"/>
              <a:round/>
              <a:headEnd type="none" w="sm" len="sm"/>
              <a:tailEnd type="none" w="sm" len="sm"/>
            </a:ln>
          </a:bottom>
          <a:insideH>
            <a:ln w="12700" cap="flat" cmpd="sng">
              <a:solidFill>
                <a:schemeClr val="accent4"/>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FFF4E6"/>
          </a:solidFill>
        </a:fill>
      </a:tcStyle>
    </a:band1H>
    <a:band2H>
      <a:tcTxStyle/>
      <a:tcStyle>
        <a:tcBdr/>
      </a:tcStyle>
    </a:band2H>
    <a:band1V>
      <a:tcTxStyle/>
      <a:tcStyle>
        <a:tcBdr/>
        <a:fill>
          <a:solidFill>
            <a:srgbClr val="FFF4E6"/>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4"/>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4"/>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3000" y="120"/>
      </p:cViewPr>
      <p:guideLst>
        <p:guide orient="horz" pos="384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886200"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1588"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560638" y="1143000"/>
            <a:ext cx="17367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r" rtl="1">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3886200" y="8685213"/>
            <a:ext cx="2971800" cy="458787"/>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1588"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fld id="{00000000-1234-1234-1234-123412341234}" type="slidenum">
              <a:rPr lang="iw-IL"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560638" y="1143000"/>
            <a:ext cx="17367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2560638" y="1143000"/>
            <a:ext cx="17367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3:notes"/>
          <p:cNvSpPr>
            <a:spLocks noGrp="1" noRot="1" noChangeAspect="1"/>
          </p:cNvSpPr>
          <p:nvPr>
            <p:ph type="sldImg" idx="2"/>
          </p:nvPr>
        </p:nvSpPr>
        <p:spPr>
          <a:xfrm>
            <a:off x="2560638" y="1143000"/>
            <a:ext cx="17367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4:notes"/>
          <p:cNvSpPr>
            <a:spLocks noGrp="1" noRot="1" noChangeAspect="1"/>
          </p:cNvSpPr>
          <p:nvPr>
            <p:ph type="sldImg" idx="2"/>
          </p:nvPr>
        </p:nvSpPr>
        <p:spPr>
          <a:xfrm>
            <a:off x="2560638" y="1143000"/>
            <a:ext cx="17367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כותרת ותוכן" type="obj">
  <p:cSld name="OBJECT">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471488" y="649114"/>
            <a:ext cx="5915025" cy="23565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body" idx="1"/>
          </p:nvPr>
        </p:nvSpPr>
        <p:spPr>
          <a:xfrm>
            <a:off x="471488" y="3245556"/>
            <a:ext cx="5915025" cy="7735712"/>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18" name="Google Shape;18;p7"/>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שקופית כותרת"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514350" y="1995312"/>
            <a:ext cx="5829300" cy="4244622"/>
          </a:xfrm>
          <a:prstGeom prst="rect">
            <a:avLst/>
          </a:prstGeom>
          <a:noFill/>
          <a:ln>
            <a:noFill/>
          </a:ln>
        </p:spPr>
        <p:txBody>
          <a:bodyPr spcFirstLastPara="1" wrap="square" lIns="91425" tIns="45700" rIns="91425" bIns="45700" anchor="b" anchorCtr="0">
            <a:normAutofit/>
          </a:bodyPr>
          <a:lstStyle>
            <a:lvl1pPr lvl="0" algn="ctr" rtl="1">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857250" y="6403623"/>
            <a:ext cx="5143500" cy="2943577"/>
          </a:xfrm>
          <a:prstGeom prst="rect">
            <a:avLst/>
          </a:prstGeom>
          <a:noFill/>
          <a:ln>
            <a:noFill/>
          </a:ln>
        </p:spPr>
        <p:txBody>
          <a:bodyPr spcFirstLastPara="1" wrap="square" lIns="91425" tIns="45700" rIns="91425" bIns="45700" anchor="t" anchorCtr="0">
            <a:normAutofit/>
          </a:bodyPr>
          <a:lstStyle>
            <a:lvl1pPr lvl="0" algn="ctr" rtl="1">
              <a:lnSpc>
                <a:spcPct val="90000"/>
              </a:lnSpc>
              <a:spcBef>
                <a:spcPts val="750"/>
              </a:spcBef>
              <a:spcAft>
                <a:spcPts val="0"/>
              </a:spcAft>
              <a:buClr>
                <a:schemeClr val="dk1"/>
              </a:buClr>
              <a:buSzPts val="1800"/>
              <a:buNone/>
              <a:defRPr sz="1800"/>
            </a:lvl1pPr>
            <a:lvl2pPr lvl="1" algn="ctr" rtl="1">
              <a:lnSpc>
                <a:spcPct val="90000"/>
              </a:lnSpc>
              <a:spcBef>
                <a:spcPts val="375"/>
              </a:spcBef>
              <a:spcAft>
                <a:spcPts val="0"/>
              </a:spcAft>
              <a:buClr>
                <a:schemeClr val="dk1"/>
              </a:buClr>
              <a:buSzPts val="1500"/>
              <a:buNone/>
              <a:defRPr sz="1500"/>
            </a:lvl2pPr>
            <a:lvl3pPr lvl="2" algn="ctr" rtl="1">
              <a:lnSpc>
                <a:spcPct val="90000"/>
              </a:lnSpc>
              <a:spcBef>
                <a:spcPts val="375"/>
              </a:spcBef>
              <a:spcAft>
                <a:spcPts val="0"/>
              </a:spcAft>
              <a:buClr>
                <a:schemeClr val="dk1"/>
              </a:buClr>
              <a:buSzPts val="1350"/>
              <a:buNone/>
              <a:defRPr sz="1350"/>
            </a:lvl3pPr>
            <a:lvl4pPr lvl="3" algn="ctr" rtl="1">
              <a:lnSpc>
                <a:spcPct val="90000"/>
              </a:lnSpc>
              <a:spcBef>
                <a:spcPts val="375"/>
              </a:spcBef>
              <a:spcAft>
                <a:spcPts val="0"/>
              </a:spcAft>
              <a:buClr>
                <a:schemeClr val="dk1"/>
              </a:buClr>
              <a:buSzPts val="1200"/>
              <a:buNone/>
              <a:defRPr sz="1200"/>
            </a:lvl4pPr>
            <a:lvl5pPr lvl="4" algn="ctr" rtl="1">
              <a:lnSpc>
                <a:spcPct val="90000"/>
              </a:lnSpc>
              <a:spcBef>
                <a:spcPts val="375"/>
              </a:spcBef>
              <a:spcAft>
                <a:spcPts val="0"/>
              </a:spcAft>
              <a:buClr>
                <a:schemeClr val="dk1"/>
              </a:buClr>
              <a:buSzPts val="1200"/>
              <a:buNone/>
              <a:defRPr sz="1200"/>
            </a:lvl5pPr>
            <a:lvl6pPr lvl="5" algn="ctr" rtl="1">
              <a:lnSpc>
                <a:spcPct val="90000"/>
              </a:lnSpc>
              <a:spcBef>
                <a:spcPts val="375"/>
              </a:spcBef>
              <a:spcAft>
                <a:spcPts val="0"/>
              </a:spcAft>
              <a:buClr>
                <a:schemeClr val="dk1"/>
              </a:buClr>
              <a:buSzPts val="1200"/>
              <a:buNone/>
              <a:defRPr sz="1200"/>
            </a:lvl6pPr>
            <a:lvl7pPr lvl="6" algn="ctr" rtl="1">
              <a:lnSpc>
                <a:spcPct val="90000"/>
              </a:lnSpc>
              <a:spcBef>
                <a:spcPts val="375"/>
              </a:spcBef>
              <a:spcAft>
                <a:spcPts val="0"/>
              </a:spcAft>
              <a:buClr>
                <a:schemeClr val="dk1"/>
              </a:buClr>
              <a:buSzPts val="1200"/>
              <a:buNone/>
              <a:defRPr sz="1200"/>
            </a:lvl7pPr>
            <a:lvl8pPr lvl="7" algn="ctr" rtl="1">
              <a:lnSpc>
                <a:spcPct val="90000"/>
              </a:lnSpc>
              <a:spcBef>
                <a:spcPts val="375"/>
              </a:spcBef>
              <a:spcAft>
                <a:spcPts val="0"/>
              </a:spcAft>
              <a:buClr>
                <a:schemeClr val="dk1"/>
              </a:buClr>
              <a:buSzPts val="1200"/>
              <a:buNone/>
              <a:defRPr sz="1200"/>
            </a:lvl8pPr>
            <a:lvl9pPr lvl="8" algn="ctr" rtl="1">
              <a:lnSpc>
                <a:spcPct val="90000"/>
              </a:lnSpc>
              <a:spcBef>
                <a:spcPts val="375"/>
              </a:spcBef>
              <a:spcAft>
                <a:spcPts val="0"/>
              </a:spcAft>
              <a:buClr>
                <a:schemeClr val="dk1"/>
              </a:buClr>
              <a:buSzPts val="1200"/>
              <a:buNone/>
              <a:defRPr sz="1200"/>
            </a:lvl9pPr>
          </a:lstStyle>
          <a:p>
            <a:endParaRPr/>
          </a:p>
        </p:txBody>
      </p:sp>
      <p:sp>
        <p:nvSpPr>
          <p:cNvPr id="24" name="Google Shape;24;p8"/>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כותרת מקטע עליונה"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467916" y="3039537"/>
            <a:ext cx="5915025" cy="5071532"/>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467916" y="8159048"/>
            <a:ext cx="5915025" cy="2666999"/>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800"/>
              <a:buNone/>
              <a:defRPr sz="1800">
                <a:solidFill>
                  <a:schemeClr val="dk1"/>
                </a:solidFill>
              </a:defRPr>
            </a:lvl1pPr>
            <a:lvl2pPr marL="914400" lvl="1" indent="-228600" algn="r" rtl="1">
              <a:lnSpc>
                <a:spcPct val="90000"/>
              </a:lnSpc>
              <a:spcBef>
                <a:spcPts val="375"/>
              </a:spcBef>
              <a:spcAft>
                <a:spcPts val="0"/>
              </a:spcAft>
              <a:buClr>
                <a:srgbClr val="888888"/>
              </a:buClr>
              <a:buSzPts val="1500"/>
              <a:buNone/>
              <a:defRPr sz="1500">
                <a:solidFill>
                  <a:srgbClr val="888888"/>
                </a:solidFill>
              </a:defRPr>
            </a:lvl2pPr>
            <a:lvl3pPr marL="1371600" lvl="2" indent="-228600" algn="r" rtl="1">
              <a:lnSpc>
                <a:spcPct val="90000"/>
              </a:lnSpc>
              <a:spcBef>
                <a:spcPts val="375"/>
              </a:spcBef>
              <a:spcAft>
                <a:spcPts val="0"/>
              </a:spcAft>
              <a:buClr>
                <a:srgbClr val="888888"/>
              </a:buClr>
              <a:buSzPts val="1350"/>
              <a:buNone/>
              <a:defRPr sz="1350">
                <a:solidFill>
                  <a:srgbClr val="888888"/>
                </a:solidFill>
              </a:defRPr>
            </a:lvl3pPr>
            <a:lvl4pPr marL="1828800" lvl="3" indent="-228600" algn="r" rtl="1">
              <a:lnSpc>
                <a:spcPct val="90000"/>
              </a:lnSpc>
              <a:spcBef>
                <a:spcPts val="375"/>
              </a:spcBef>
              <a:spcAft>
                <a:spcPts val="0"/>
              </a:spcAft>
              <a:buClr>
                <a:srgbClr val="888888"/>
              </a:buClr>
              <a:buSzPts val="1200"/>
              <a:buNone/>
              <a:defRPr sz="1200">
                <a:solidFill>
                  <a:srgbClr val="888888"/>
                </a:solidFill>
              </a:defRPr>
            </a:lvl4pPr>
            <a:lvl5pPr marL="2286000" lvl="4" indent="-228600" algn="r" rtl="1">
              <a:lnSpc>
                <a:spcPct val="90000"/>
              </a:lnSpc>
              <a:spcBef>
                <a:spcPts val="375"/>
              </a:spcBef>
              <a:spcAft>
                <a:spcPts val="0"/>
              </a:spcAft>
              <a:buClr>
                <a:srgbClr val="888888"/>
              </a:buClr>
              <a:buSzPts val="1200"/>
              <a:buNone/>
              <a:defRPr sz="1200">
                <a:solidFill>
                  <a:srgbClr val="888888"/>
                </a:solidFill>
              </a:defRPr>
            </a:lvl5pPr>
            <a:lvl6pPr marL="2743200" lvl="5" indent="-228600" algn="r" rtl="1">
              <a:lnSpc>
                <a:spcPct val="90000"/>
              </a:lnSpc>
              <a:spcBef>
                <a:spcPts val="375"/>
              </a:spcBef>
              <a:spcAft>
                <a:spcPts val="0"/>
              </a:spcAft>
              <a:buClr>
                <a:srgbClr val="888888"/>
              </a:buClr>
              <a:buSzPts val="1200"/>
              <a:buNone/>
              <a:defRPr sz="1200">
                <a:solidFill>
                  <a:srgbClr val="888888"/>
                </a:solidFill>
              </a:defRPr>
            </a:lvl6pPr>
            <a:lvl7pPr marL="3200400" lvl="6" indent="-228600" algn="r" rtl="1">
              <a:lnSpc>
                <a:spcPct val="90000"/>
              </a:lnSpc>
              <a:spcBef>
                <a:spcPts val="375"/>
              </a:spcBef>
              <a:spcAft>
                <a:spcPts val="0"/>
              </a:spcAft>
              <a:buClr>
                <a:srgbClr val="888888"/>
              </a:buClr>
              <a:buSzPts val="1200"/>
              <a:buNone/>
              <a:defRPr sz="1200">
                <a:solidFill>
                  <a:srgbClr val="888888"/>
                </a:solidFill>
              </a:defRPr>
            </a:lvl7pPr>
            <a:lvl8pPr marL="3657600" lvl="7" indent="-228600" algn="r" rtl="1">
              <a:lnSpc>
                <a:spcPct val="90000"/>
              </a:lnSpc>
              <a:spcBef>
                <a:spcPts val="375"/>
              </a:spcBef>
              <a:spcAft>
                <a:spcPts val="0"/>
              </a:spcAft>
              <a:buClr>
                <a:srgbClr val="888888"/>
              </a:buClr>
              <a:buSzPts val="1200"/>
              <a:buNone/>
              <a:defRPr sz="1200">
                <a:solidFill>
                  <a:srgbClr val="888888"/>
                </a:solidFill>
              </a:defRPr>
            </a:lvl8pPr>
            <a:lvl9pPr marL="4114800" lvl="8" indent="-228600" algn="r" rtl="1">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0" name="Google Shape;30;p9"/>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שני תכנים"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71488" y="649114"/>
            <a:ext cx="5915025" cy="23565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71488" y="3245556"/>
            <a:ext cx="2914650" cy="7735712"/>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3471863" y="3245556"/>
            <a:ext cx="2914650" cy="7735712"/>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השוואה"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72381" y="649114"/>
            <a:ext cx="5915025" cy="23565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72381" y="2988734"/>
            <a:ext cx="2901255" cy="1464732"/>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43" name="Google Shape;43;p11"/>
          <p:cNvSpPr txBox="1">
            <a:spLocks noGrp="1"/>
          </p:cNvSpPr>
          <p:nvPr>
            <p:ph type="body" idx="2"/>
          </p:nvPr>
        </p:nvSpPr>
        <p:spPr>
          <a:xfrm>
            <a:off x="472381" y="4453467"/>
            <a:ext cx="2901255" cy="6550379"/>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3471863" y="2988734"/>
            <a:ext cx="2915543" cy="1464732"/>
          </a:xfrm>
          <a:prstGeom prst="rect">
            <a:avLst/>
          </a:prstGeom>
          <a:noFill/>
          <a:ln>
            <a:noFill/>
          </a:ln>
        </p:spPr>
        <p:txBody>
          <a:bodyPr spcFirstLastPara="1" wrap="square" lIns="91425" tIns="45700" rIns="91425" bIns="45700" anchor="b" anchorCtr="0">
            <a:normAutofit/>
          </a:bodyPr>
          <a:lstStyle>
            <a:lvl1pPr marL="457200" lvl="0" indent="-228600" algn="r" rtl="1">
              <a:lnSpc>
                <a:spcPct val="90000"/>
              </a:lnSpc>
              <a:spcBef>
                <a:spcPts val="750"/>
              </a:spcBef>
              <a:spcAft>
                <a:spcPts val="0"/>
              </a:spcAft>
              <a:buClr>
                <a:schemeClr val="dk1"/>
              </a:buClr>
              <a:buSzPts val="1800"/>
              <a:buNone/>
              <a:defRPr sz="1800" b="1"/>
            </a:lvl1pPr>
            <a:lvl2pPr marL="914400" lvl="1" indent="-228600" algn="r" rtl="1">
              <a:lnSpc>
                <a:spcPct val="90000"/>
              </a:lnSpc>
              <a:spcBef>
                <a:spcPts val="375"/>
              </a:spcBef>
              <a:spcAft>
                <a:spcPts val="0"/>
              </a:spcAft>
              <a:buClr>
                <a:schemeClr val="dk1"/>
              </a:buClr>
              <a:buSzPts val="1500"/>
              <a:buNone/>
              <a:defRPr sz="1500" b="1"/>
            </a:lvl2pPr>
            <a:lvl3pPr marL="1371600" lvl="2" indent="-228600" algn="r" rtl="1">
              <a:lnSpc>
                <a:spcPct val="90000"/>
              </a:lnSpc>
              <a:spcBef>
                <a:spcPts val="375"/>
              </a:spcBef>
              <a:spcAft>
                <a:spcPts val="0"/>
              </a:spcAft>
              <a:buClr>
                <a:schemeClr val="dk1"/>
              </a:buClr>
              <a:buSzPts val="1350"/>
              <a:buNone/>
              <a:defRPr sz="1350" b="1"/>
            </a:lvl3pPr>
            <a:lvl4pPr marL="1828800" lvl="3" indent="-228600" algn="r" rtl="1">
              <a:lnSpc>
                <a:spcPct val="90000"/>
              </a:lnSpc>
              <a:spcBef>
                <a:spcPts val="375"/>
              </a:spcBef>
              <a:spcAft>
                <a:spcPts val="0"/>
              </a:spcAft>
              <a:buClr>
                <a:schemeClr val="dk1"/>
              </a:buClr>
              <a:buSzPts val="1200"/>
              <a:buNone/>
              <a:defRPr sz="1200" b="1"/>
            </a:lvl4pPr>
            <a:lvl5pPr marL="2286000" lvl="4" indent="-228600" algn="r" rtl="1">
              <a:lnSpc>
                <a:spcPct val="90000"/>
              </a:lnSpc>
              <a:spcBef>
                <a:spcPts val="375"/>
              </a:spcBef>
              <a:spcAft>
                <a:spcPts val="0"/>
              </a:spcAft>
              <a:buClr>
                <a:schemeClr val="dk1"/>
              </a:buClr>
              <a:buSzPts val="1200"/>
              <a:buNone/>
              <a:defRPr sz="1200" b="1"/>
            </a:lvl5pPr>
            <a:lvl6pPr marL="2743200" lvl="5" indent="-228600" algn="r" rtl="1">
              <a:lnSpc>
                <a:spcPct val="90000"/>
              </a:lnSpc>
              <a:spcBef>
                <a:spcPts val="375"/>
              </a:spcBef>
              <a:spcAft>
                <a:spcPts val="0"/>
              </a:spcAft>
              <a:buClr>
                <a:schemeClr val="dk1"/>
              </a:buClr>
              <a:buSzPts val="1200"/>
              <a:buNone/>
              <a:defRPr sz="1200" b="1"/>
            </a:lvl6pPr>
            <a:lvl7pPr marL="3200400" lvl="6" indent="-228600" algn="r" rtl="1">
              <a:lnSpc>
                <a:spcPct val="90000"/>
              </a:lnSpc>
              <a:spcBef>
                <a:spcPts val="375"/>
              </a:spcBef>
              <a:spcAft>
                <a:spcPts val="0"/>
              </a:spcAft>
              <a:buClr>
                <a:schemeClr val="dk1"/>
              </a:buClr>
              <a:buSzPts val="1200"/>
              <a:buNone/>
              <a:defRPr sz="1200" b="1"/>
            </a:lvl7pPr>
            <a:lvl8pPr marL="3657600" lvl="7" indent="-228600" algn="r" rtl="1">
              <a:lnSpc>
                <a:spcPct val="90000"/>
              </a:lnSpc>
              <a:spcBef>
                <a:spcPts val="375"/>
              </a:spcBef>
              <a:spcAft>
                <a:spcPts val="0"/>
              </a:spcAft>
              <a:buClr>
                <a:schemeClr val="dk1"/>
              </a:buClr>
              <a:buSzPts val="1200"/>
              <a:buNone/>
              <a:defRPr sz="1200" b="1"/>
            </a:lvl8pPr>
            <a:lvl9pPr marL="4114800" lvl="8" indent="-228600" algn="r" rtl="1">
              <a:lnSpc>
                <a:spcPct val="90000"/>
              </a:lnSpc>
              <a:spcBef>
                <a:spcPts val="375"/>
              </a:spcBef>
              <a:spcAft>
                <a:spcPts val="0"/>
              </a:spcAft>
              <a:buClr>
                <a:schemeClr val="dk1"/>
              </a:buClr>
              <a:buSzPts val="1200"/>
              <a:buNone/>
              <a:defRPr sz="1200" b="1"/>
            </a:lvl9pPr>
          </a:lstStyle>
          <a:p>
            <a:endParaRPr/>
          </a:p>
        </p:txBody>
      </p:sp>
      <p:sp>
        <p:nvSpPr>
          <p:cNvPr id="45" name="Google Shape;45;p11"/>
          <p:cNvSpPr txBox="1">
            <a:spLocks noGrp="1"/>
          </p:cNvSpPr>
          <p:nvPr>
            <p:ph type="body" idx="4"/>
          </p:nvPr>
        </p:nvSpPr>
        <p:spPr>
          <a:xfrm>
            <a:off x="3471863" y="4453467"/>
            <a:ext cx="2915543" cy="6550379"/>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כותרת בלבד"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71488" y="649114"/>
            <a:ext cx="5915025" cy="23565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ריק"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תוכן עם כיתוב"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72381" y="812800"/>
            <a:ext cx="2211884" cy="284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2915543" y="1755425"/>
            <a:ext cx="3471863" cy="8664222"/>
          </a:xfrm>
          <a:prstGeom prst="rect">
            <a:avLst/>
          </a:prstGeom>
          <a:noFill/>
          <a:ln>
            <a:noFill/>
          </a:ln>
        </p:spPr>
        <p:txBody>
          <a:bodyPr spcFirstLastPara="1" wrap="square" lIns="91425" tIns="45700" rIns="91425" bIns="45700" anchor="t" anchorCtr="0">
            <a:normAutofit/>
          </a:bodyPr>
          <a:lstStyle>
            <a:lvl1pPr marL="457200" lvl="0" indent="-381000" algn="r" rtl="1">
              <a:lnSpc>
                <a:spcPct val="90000"/>
              </a:lnSpc>
              <a:spcBef>
                <a:spcPts val="750"/>
              </a:spcBef>
              <a:spcAft>
                <a:spcPts val="0"/>
              </a:spcAft>
              <a:buClr>
                <a:schemeClr val="dk1"/>
              </a:buClr>
              <a:buSzPts val="2400"/>
              <a:buChar char="•"/>
              <a:defRPr sz="2400"/>
            </a:lvl1pPr>
            <a:lvl2pPr marL="914400" lvl="1" indent="-361950" algn="r" rtl="1">
              <a:lnSpc>
                <a:spcPct val="90000"/>
              </a:lnSpc>
              <a:spcBef>
                <a:spcPts val="375"/>
              </a:spcBef>
              <a:spcAft>
                <a:spcPts val="0"/>
              </a:spcAft>
              <a:buClr>
                <a:schemeClr val="dk1"/>
              </a:buClr>
              <a:buSzPts val="2100"/>
              <a:buChar char="•"/>
              <a:defRPr sz="2100"/>
            </a:lvl2pPr>
            <a:lvl3pPr marL="1371600" lvl="2" indent="-342900" algn="r" rtl="1">
              <a:lnSpc>
                <a:spcPct val="90000"/>
              </a:lnSpc>
              <a:spcBef>
                <a:spcPts val="375"/>
              </a:spcBef>
              <a:spcAft>
                <a:spcPts val="0"/>
              </a:spcAft>
              <a:buClr>
                <a:schemeClr val="dk1"/>
              </a:buClr>
              <a:buSzPts val="1800"/>
              <a:buChar char="•"/>
              <a:defRPr sz="1800"/>
            </a:lvl3pPr>
            <a:lvl4pPr marL="1828800" lvl="3" indent="-323850" algn="r" rtl="1">
              <a:lnSpc>
                <a:spcPct val="90000"/>
              </a:lnSpc>
              <a:spcBef>
                <a:spcPts val="375"/>
              </a:spcBef>
              <a:spcAft>
                <a:spcPts val="0"/>
              </a:spcAft>
              <a:buClr>
                <a:schemeClr val="dk1"/>
              </a:buClr>
              <a:buSzPts val="1500"/>
              <a:buChar char="•"/>
              <a:defRPr sz="1500"/>
            </a:lvl4pPr>
            <a:lvl5pPr marL="2286000" lvl="4" indent="-323850" algn="r" rtl="1">
              <a:lnSpc>
                <a:spcPct val="90000"/>
              </a:lnSpc>
              <a:spcBef>
                <a:spcPts val="375"/>
              </a:spcBef>
              <a:spcAft>
                <a:spcPts val="0"/>
              </a:spcAft>
              <a:buClr>
                <a:schemeClr val="dk1"/>
              </a:buClr>
              <a:buSzPts val="1500"/>
              <a:buChar char="•"/>
              <a:defRPr sz="1500"/>
            </a:lvl5pPr>
            <a:lvl6pPr marL="2743200" lvl="5" indent="-323850" algn="r" rtl="1">
              <a:lnSpc>
                <a:spcPct val="90000"/>
              </a:lnSpc>
              <a:spcBef>
                <a:spcPts val="375"/>
              </a:spcBef>
              <a:spcAft>
                <a:spcPts val="0"/>
              </a:spcAft>
              <a:buClr>
                <a:schemeClr val="dk1"/>
              </a:buClr>
              <a:buSzPts val="1500"/>
              <a:buChar char="•"/>
              <a:defRPr sz="1500"/>
            </a:lvl6pPr>
            <a:lvl7pPr marL="3200400" lvl="6" indent="-323850" algn="r" rtl="1">
              <a:lnSpc>
                <a:spcPct val="90000"/>
              </a:lnSpc>
              <a:spcBef>
                <a:spcPts val="375"/>
              </a:spcBef>
              <a:spcAft>
                <a:spcPts val="0"/>
              </a:spcAft>
              <a:buClr>
                <a:schemeClr val="dk1"/>
              </a:buClr>
              <a:buSzPts val="1500"/>
              <a:buChar char="•"/>
              <a:defRPr sz="1500"/>
            </a:lvl7pPr>
            <a:lvl8pPr marL="3657600" lvl="7" indent="-323850" algn="r" rtl="1">
              <a:lnSpc>
                <a:spcPct val="90000"/>
              </a:lnSpc>
              <a:spcBef>
                <a:spcPts val="375"/>
              </a:spcBef>
              <a:spcAft>
                <a:spcPts val="0"/>
              </a:spcAft>
              <a:buClr>
                <a:schemeClr val="dk1"/>
              </a:buClr>
              <a:buSzPts val="1500"/>
              <a:buChar char="•"/>
              <a:defRPr sz="1500"/>
            </a:lvl8pPr>
            <a:lvl9pPr marL="4114800" lvl="8" indent="-323850" algn="r" rtl="1">
              <a:lnSpc>
                <a:spcPct val="90000"/>
              </a:lnSpc>
              <a:spcBef>
                <a:spcPts val="375"/>
              </a:spcBef>
              <a:spcAft>
                <a:spcPts val="0"/>
              </a:spcAft>
              <a:buClr>
                <a:schemeClr val="dk1"/>
              </a:buClr>
              <a:buSzPts val="1500"/>
              <a:buChar char="•"/>
              <a:defRPr sz="1500"/>
            </a:lvl9pPr>
          </a:lstStyle>
          <a:p>
            <a:endParaRPr/>
          </a:p>
        </p:txBody>
      </p:sp>
      <p:sp>
        <p:nvSpPr>
          <p:cNvPr id="61" name="Google Shape;61;p14"/>
          <p:cNvSpPr txBox="1">
            <a:spLocks noGrp="1"/>
          </p:cNvSpPr>
          <p:nvPr>
            <p:ph type="body" idx="2"/>
          </p:nvPr>
        </p:nvSpPr>
        <p:spPr>
          <a:xfrm>
            <a:off x="472381" y="3657600"/>
            <a:ext cx="2211884" cy="6776156"/>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62" name="Google Shape;62;p14"/>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תמונה עם כיתוב"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472381" y="812800"/>
            <a:ext cx="2211884" cy="2844800"/>
          </a:xfrm>
          <a:prstGeom prst="rect">
            <a:avLst/>
          </a:prstGeom>
          <a:noFill/>
          <a:ln>
            <a:noFill/>
          </a:ln>
        </p:spPr>
        <p:txBody>
          <a:bodyPr spcFirstLastPara="1" wrap="square" lIns="91425" tIns="45700" rIns="91425" bIns="45700" anchor="b" anchorCtr="0">
            <a:normAutofit/>
          </a:bodyPr>
          <a:lstStyle>
            <a:lvl1pPr lvl="0" algn="l" rtl="1">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2915543" y="1755425"/>
            <a:ext cx="3471863" cy="8664222"/>
          </a:xfrm>
          <a:prstGeom prst="rect">
            <a:avLst/>
          </a:prstGeom>
          <a:noFill/>
          <a:ln>
            <a:noFill/>
          </a:ln>
        </p:spPr>
      </p:sp>
      <p:sp>
        <p:nvSpPr>
          <p:cNvPr id="68" name="Google Shape;68;p15"/>
          <p:cNvSpPr txBox="1">
            <a:spLocks noGrp="1"/>
          </p:cNvSpPr>
          <p:nvPr>
            <p:ph type="body" idx="1"/>
          </p:nvPr>
        </p:nvSpPr>
        <p:spPr>
          <a:xfrm>
            <a:off x="472381" y="3657600"/>
            <a:ext cx="2211884" cy="6776156"/>
          </a:xfrm>
          <a:prstGeom prst="rect">
            <a:avLst/>
          </a:prstGeom>
          <a:noFill/>
          <a:ln>
            <a:noFill/>
          </a:ln>
        </p:spPr>
        <p:txBody>
          <a:bodyPr spcFirstLastPara="1" wrap="square" lIns="91425" tIns="45700" rIns="91425" bIns="45700" anchor="t" anchorCtr="0">
            <a:normAutofit/>
          </a:bodyPr>
          <a:lstStyle>
            <a:lvl1pPr marL="457200" lvl="0" indent="-228600" algn="r" rtl="1">
              <a:lnSpc>
                <a:spcPct val="90000"/>
              </a:lnSpc>
              <a:spcBef>
                <a:spcPts val="750"/>
              </a:spcBef>
              <a:spcAft>
                <a:spcPts val="0"/>
              </a:spcAft>
              <a:buClr>
                <a:schemeClr val="dk1"/>
              </a:buClr>
              <a:buSzPts val="1200"/>
              <a:buNone/>
              <a:defRPr sz="1200"/>
            </a:lvl1pPr>
            <a:lvl2pPr marL="914400" lvl="1" indent="-228600" algn="r" rtl="1">
              <a:lnSpc>
                <a:spcPct val="90000"/>
              </a:lnSpc>
              <a:spcBef>
                <a:spcPts val="375"/>
              </a:spcBef>
              <a:spcAft>
                <a:spcPts val="0"/>
              </a:spcAft>
              <a:buClr>
                <a:schemeClr val="dk1"/>
              </a:buClr>
              <a:buSzPts val="1050"/>
              <a:buNone/>
              <a:defRPr sz="1050"/>
            </a:lvl2pPr>
            <a:lvl3pPr marL="1371600" lvl="2" indent="-228600" algn="r" rtl="1">
              <a:lnSpc>
                <a:spcPct val="90000"/>
              </a:lnSpc>
              <a:spcBef>
                <a:spcPts val="375"/>
              </a:spcBef>
              <a:spcAft>
                <a:spcPts val="0"/>
              </a:spcAft>
              <a:buClr>
                <a:schemeClr val="dk1"/>
              </a:buClr>
              <a:buSzPts val="900"/>
              <a:buNone/>
              <a:defRPr sz="900"/>
            </a:lvl3pPr>
            <a:lvl4pPr marL="1828800" lvl="3" indent="-228600" algn="r" rtl="1">
              <a:lnSpc>
                <a:spcPct val="90000"/>
              </a:lnSpc>
              <a:spcBef>
                <a:spcPts val="375"/>
              </a:spcBef>
              <a:spcAft>
                <a:spcPts val="0"/>
              </a:spcAft>
              <a:buClr>
                <a:schemeClr val="dk1"/>
              </a:buClr>
              <a:buSzPts val="750"/>
              <a:buNone/>
              <a:defRPr sz="750"/>
            </a:lvl4pPr>
            <a:lvl5pPr marL="2286000" lvl="4" indent="-228600" algn="r" rtl="1">
              <a:lnSpc>
                <a:spcPct val="90000"/>
              </a:lnSpc>
              <a:spcBef>
                <a:spcPts val="375"/>
              </a:spcBef>
              <a:spcAft>
                <a:spcPts val="0"/>
              </a:spcAft>
              <a:buClr>
                <a:schemeClr val="dk1"/>
              </a:buClr>
              <a:buSzPts val="750"/>
              <a:buNone/>
              <a:defRPr sz="750"/>
            </a:lvl5pPr>
            <a:lvl6pPr marL="2743200" lvl="5" indent="-228600" algn="r" rtl="1">
              <a:lnSpc>
                <a:spcPct val="90000"/>
              </a:lnSpc>
              <a:spcBef>
                <a:spcPts val="375"/>
              </a:spcBef>
              <a:spcAft>
                <a:spcPts val="0"/>
              </a:spcAft>
              <a:buClr>
                <a:schemeClr val="dk1"/>
              </a:buClr>
              <a:buSzPts val="750"/>
              <a:buNone/>
              <a:defRPr sz="750"/>
            </a:lvl6pPr>
            <a:lvl7pPr marL="3200400" lvl="6" indent="-228600" algn="r" rtl="1">
              <a:lnSpc>
                <a:spcPct val="90000"/>
              </a:lnSpc>
              <a:spcBef>
                <a:spcPts val="375"/>
              </a:spcBef>
              <a:spcAft>
                <a:spcPts val="0"/>
              </a:spcAft>
              <a:buClr>
                <a:schemeClr val="dk1"/>
              </a:buClr>
              <a:buSzPts val="750"/>
              <a:buNone/>
              <a:defRPr sz="750"/>
            </a:lvl7pPr>
            <a:lvl8pPr marL="3657600" lvl="7" indent="-228600" algn="r" rtl="1">
              <a:lnSpc>
                <a:spcPct val="90000"/>
              </a:lnSpc>
              <a:spcBef>
                <a:spcPts val="375"/>
              </a:spcBef>
              <a:spcAft>
                <a:spcPts val="0"/>
              </a:spcAft>
              <a:buClr>
                <a:schemeClr val="dk1"/>
              </a:buClr>
              <a:buSzPts val="750"/>
              <a:buNone/>
              <a:defRPr sz="750"/>
            </a:lvl8pPr>
            <a:lvl9pPr marL="4114800" lvl="8" indent="-228600" algn="r" rtl="1">
              <a:lnSpc>
                <a:spcPct val="90000"/>
              </a:lnSpc>
              <a:spcBef>
                <a:spcPts val="375"/>
              </a:spcBef>
              <a:spcAft>
                <a:spcPts val="0"/>
              </a:spcAft>
              <a:buClr>
                <a:schemeClr val="dk1"/>
              </a:buClr>
              <a:buSzPts val="750"/>
              <a:buNone/>
              <a:defRPr sz="750"/>
            </a:lvl9pPr>
          </a:lstStyle>
          <a:p>
            <a:endParaRPr/>
          </a:p>
        </p:txBody>
      </p:sp>
      <p:sp>
        <p:nvSpPr>
          <p:cNvPr id="69" name="Google Shape;69;p15"/>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כותרת וטקסט אנכי"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71488" y="649114"/>
            <a:ext cx="5915025" cy="23565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438856" y="4155899"/>
            <a:ext cx="7735712" cy="5915025"/>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כותרת אנכית וטקסט"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81057" y="5075811"/>
            <a:ext cx="10332156" cy="1478756"/>
          </a:xfrm>
          <a:prstGeom prst="rect">
            <a:avLst/>
          </a:prstGeom>
          <a:noFill/>
          <a:ln>
            <a:noFill/>
          </a:ln>
        </p:spPr>
        <p:txBody>
          <a:bodyPr spcFirstLastPara="1" wrap="square" lIns="91425" tIns="45700" rIns="91425" bIns="45700" anchor="ctr" anchorCtr="0">
            <a:normAutofit/>
          </a:bodyPr>
          <a:lstStyle>
            <a:lvl1pPr lvl="0" algn="l" rtl="1">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2519318" y="3639917"/>
            <a:ext cx="10332156" cy="4350544"/>
          </a:xfrm>
          <a:prstGeom prst="rect">
            <a:avLst/>
          </a:prstGeom>
          <a:noFill/>
          <a:ln>
            <a:noFill/>
          </a:ln>
        </p:spPr>
        <p:txBody>
          <a:bodyPr spcFirstLastPara="1" wrap="square" lIns="91425" tIns="45700" rIns="91425" bIns="45700" anchor="t" anchorCtr="0">
            <a:normAutofit/>
          </a:bodyPr>
          <a:lstStyle>
            <a:lvl1pPr marL="457200" lvl="0" indent="-342900" algn="r" rtl="1">
              <a:lnSpc>
                <a:spcPct val="90000"/>
              </a:lnSpc>
              <a:spcBef>
                <a:spcPts val="750"/>
              </a:spcBef>
              <a:spcAft>
                <a:spcPts val="0"/>
              </a:spcAft>
              <a:buClr>
                <a:schemeClr val="dk1"/>
              </a:buClr>
              <a:buSzPts val="1800"/>
              <a:buChar char="•"/>
              <a:defRPr/>
            </a:lvl1pPr>
            <a:lvl2pPr marL="914400" lvl="1" indent="-342900" algn="r" rtl="1">
              <a:lnSpc>
                <a:spcPct val="90000"/>
              </a:lnSpc>
              <a:spcBef>
                <a:spcPts val="375"/>
              </a:spcBef>
              <a:spcAft>
                <a:spcPts val="0"/>
              </a:spcAft>
              <a:buClr>
                <a:schemeClr val="dk1"/>
              </a:buClr>
              <a:buSzPts val="1800"/>
              <a:buChar char="•"/>
              <a:defRPr/>
            </a:lvl2pPr>
            <a:lvl3pPr marL="1371600" lvl="2" indent="-342900" algn="r" rtl="1">
              <a:lnSpc>
                <a:spcPct val="90000"/>
              </a:lnSpc>
              <a:spcBef>
                <a:spcPts val="375"/>
              </a:spcBef>
              <a:spcAft>
                <a:spcPts val="0"/>
              </a:spcAft>
              <a:buClr>
                <a:schemeClr val="dk1"/>
              </a:buClr>
              <a:buSzPts val="1800"/>
              <a:buChar char="•"/>
              <a:defRPr/>
            </a:lvl3pPr>
            <a:lvl4pPr marL="1828800" lvl="3" indent="-342900" algn="r" rtl="1">
              <a:lnSpc>
                <a:spcPct val="90000"/>
              </a:lnSpc>
              <a:spcBef>
                <a:spcPts val="375"/>
              </a:spcBef>
              <a:spcAft>
                <a:spcPts val="0"/>
              </a:spcAft>
              <a:buClr>
                <a:schemeClr val="dk1"/>
              </a:buClr>
              <a:buSzPts val="1800"/>
              <a:buChar char="•"/>
              <a:defRPr/>
            </a:lvl4pPr>
            <a:lvl5pPr marL="2286000" lvl="4" indent="-342900" algn="r" rtl="1">
              <a:lnSpc>
                <a:spcPct val="90000"/>
              </a:lnSpc>
              <a:spcBef>
                <a:spcPts val="375"/>
              </a:spcBef>
              <a:spcAft>
                <a:spcPts val="0"/>
              </a:spcAft>
              <a:buClr>
                <a:schemeClr val="dk1"/>
              </a:buClr>
              <a:buSzPts val="1800"/>
              <a:buChar char="•"/>
              <a:defRPr/>
            </a:lvl5pPr>
            <a:lvl6pPr marL="2743200" lvl="5" indent="-342900" algn="r" rtl="1">
              <a:lnSpc>
                <a:spcPct val="90000"/>
              </a:lnSpc>
              <a:spcBef>
                <a:spcPts val="375"/>
              </a:spcBef>
              <a:spcAft>
                <a:spcPts val="0"/>
              </a:spcAft>
              <a:buClr>
                <a:schemeClr val="dk1"/>
              </a:buClr>
              <a:buSzPts val="1800"/>
              <a:buChar char="•"/>
              <a:defRPr/>
            </a:lvl6pPr>
            <a:lvl7pPr marL="3200400" lvl="6" indent="-342900" algn="r" rtl="1">
              <a:lnSpc>
                <a:spcPct val="90000"/>
              </a:lnSpc>
              <a:spcBef>
                <a:spcPts val="375"/>
              </a:spcBef>
              <a:spcAft>
                <a:spcPts val="0"/>
              </a:spcAft>
              <a:buClr>
                <a:schemeClr val="dk1"/>
              </a:buClr>
              <a:buSzPts val="1800"/>
              <a:buChar char="•"/>
              <a:defRPr/>
            </a:lvl7pPr>
            <a:lvl8pPr marL="3657600" lvl="7" indent="-342900" algn="r" rtl="1">
              <a:lnSpc>
                <a:spcPct val="90000"/>
              </a:lnSpc>
              <a:spcBef>
                <a:spcPts val="375"/>
              </a:spcBef>
              <a:spcAft>
                <a:spcPts val="0"/>
              </a:spcAft>
              <a:buClr>
                <a:schemeClr val="dk1"/>
              </a:buClr>
              <a:buSzPts val="1800"/>
              <a:buChar char="•"/>
              <a:defRPr/>
            </a:lvl8pPr>
            <a:lvl9pPr marL="4114800" lvl="8" indent="-342900" algn="r" rtl="1">
              <a:lnSpc>
                <a:spcPct val="90000"/>
              </a:lnSpc>
              <a:spcBef>
                <a:spcPts val="375"/>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iw-I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71488" y="649114"/>
            <a:ext cx="5915025" cy="2356556"/>
          </a:xfrm>
          <a:prstGeom prst="rect">
            <a:avLst/>
          </a:prstGeom>
          <a:noFill/>
          <a:ln>
            <a:noFill/>
          </a:ln>
        </p:spPr>
        <p:txBody>
          <a:bodyPr spcFirstLastPara="1" wrap="square" lIns="91425" tIns="45700" rIns="91425" bIns="45700" anchor="ctr" anchorCtr="0">
            <a:normAutofit/>
          </a:bodyPr>
          <a:lstStyle>
            <a:lvl1pPr marR="0" lvl="0" algn="l" rtl="1">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71488" y="3245556"/>
            <a:ext cx="5915025" cy="7735712"/>
          </a:xfrm>
          <a:prstGeom prst="rect">
            <a:avLst/>
          </a:prstGeom>
          <a:noFill/>
          <a:ln>
            <a:noFill/>
          </a:ln>
        </p:spPr>
        <p:txBody>
          <a:bodyPr spcFirstLastPara="1" wrap="square" lIns="91425" tIns="45700" rIns="91425" bIns="45700" anchor="t" anchorCtr="0">
            <a:normAutofit/>
          </a:bodyPr>
          <a:lstStyle>
            <a:lvl1pPr marL="457200" marR="0" lvl="0" indent="-361950" algn="r" rtl="1">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r" rtl="1">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r" rtl="1">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r" rtl="1">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71488" y="11300181"/>
            <a:ext cx="1543050" cy="64911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iw-IL"/>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
          <p:cNvSpPr txBox="1">
            <a:spLocks noGrp="1"/>
          </p:cNvSpPr>
          <p:nvPr>
            <p:ph type="title"/>
          </p:nvPr>
        </p:nvSpPr>
        <p:spPr>
          <a:xfrm>
            <a:off x="0" y="1035757"/>
            <a:ext cx="6858000" cy="417686"/>
          </a:xfrm>
          <a:prstGeom prst="rect">
            <a:avLst/>
          </a:prstGeom>
          <a:noFill/>
          <a:ln>
            <a:noFill/>
          </a:ln>
        </p:spPr>
        <p:txBody>
          <a:bodyPr spcFirstLastPara="1" wrap="square" lIns="91425" tIns="45700" rIns="91425" bIns="45700" anchor="ctr" anchorCtr="0">
            <a:normAutofit fontScale="90000"/>
          </a:bodyPr>
          <a:lstStyle/>
          <a:p>
            <a:pPr marL="0" lvl="0" indent="0" algn="ctr" rtl="1">
              <a:lnSpc>
                <a:spcPct val="90000"/>
              </a:lnSpc>
              <a:spcBef>
                <a:spcPts val="0"/>
              </a:spcBef>
              <a:spcAft>
                <a:spcPts val="0"/>
              </a:spcAft>
              <a:buClr>
                <a:schemeClr val="dk1"/>
              </a:buClr>
              <a:buSzPct val="100000"/>
              <a:buFont typeface="Aharoni"/>
              <a:buNone/>
            </a:pPr>
            <a:r>
              <a:rPr lang="iw-IL" sz="2400" b="1" u="sng">
                <a:latin typeface="Aharoni"/>
                <a:ea typeface="Aharoni"/>
                <a:cs typeface="Aharoni"/>
                <a:sym typeface="Aharoni"/>
              </a:rPr>
              <a:t>תמצית הדרכת בטיחות והוראות בטיחות לעבוד באתר בניה</a:t>
            </a:r>
            <a:endParaRPr/>
          </a:p>
        </p:txBody>
      </p:sp>
      <p:sp>
        <p:nvSpPr>
          <p:cNvPr id="90" name="Google Shape;90;p1"/>
          <p:cNvSpPr txBox="1">
            <a:spLocks noGrp="1"/>
          </p:cNvSpPr>
          <p:nvPr>
            <p:ph type="body" idx="1"/>
          </p:nvPr>
        </p:nvSpPr>
        <p:spPr>
          <a:xfrm>
            <a:off x="0" y="1630305"/>
            <a:ext cx="6858000" cy="559948"/>
          </a:xfrm>
          <a:prstGeom prst="rect">
            <a:avLst/>
          </a:prstGeom>
          <a:noFill/>
          <a:ln>
            <a:noFill/>
          </a:ln>
        </p:spPr>
        <p:txBody>
          <a:bodyPr spcFirstLastPara="1" wrap="square" lIns="91425" tIns="45700" rIns="91425" bIns="45700" anchor="t" anchorCtr="0">
            <a:normAutofit/>
          </a:bodyPr>
          <a:lstStyle/>
          <a:p>
            <a:pPr marL="0" lvl="0" indent="0" algn="r" rtl="1">
              <a:lnSpc>
                <a:spcPct val="90000"/>
              </a:lnSpc>
              <a:spcBef>
                <a:spcPts val="0"/>
              </a:spcBef>
              <a:spcAft>
                <a:spcPts val="0"/>
              </a:spcAft>
              <a:buClr>
                <a:schemeClr val="dk1"/>
              </a:buClr>
              <a:buSzPts val="2800"/>
              <a:buNone/>
            </a:pPr>
            <a:r>
              <a:rPr lang="iw-IL" sz="2800" u="sng">
                <a:latin typeface="Aharoni"/>
                <a:ea typeface="Aharoni"/>
                <a:cs typeface="Aharoni"/>
                <a:sym typeface="Aharoni"/>
              </a:rPr>
              <a:t>ציוד מגן אישי</a:t>
            </a:r>
            <a:endParaRPr/>
          </a:p>
        </p:txBody>
      </p:sp>
      <p:graphicFrame>
        <p:nvGraphicFramePr>
          <p:cNvPr id="91" name="Google Shape;91;p1"/>
          <p:cNvGraphicFramePr/>
          <p:nvPr/>
        </p:nvGraphicFramePr>
        <p:xfrm>
          <a:off x="143271" y="3072573"/>
          <a:ext cx="6571475" cy="1608646"/>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פגיעות פיזיולוגיות</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פגיעות גפיים ועיניים</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נזק בריאותי</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אי שימוש בציוד מגן אישי</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אי בדיקת ציוד מגן אישי</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שימוש לא תקין בציוד מגן אישי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כל עובד יצטייד בנעלי עבודה תקניות, קסדת מגן ואפוד זוהר</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בנוסף העובד ישתמש בציוד מגן אישי נוסף לפי סוג העבודה ובהתאם לחוק הציוד מגן אישי, הוראות יצרן. לכל בירור בנושא מול מנ"ע</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במידה והציוד אינו תקין, להחליפו מייד</a:t>
                      </a:r>
                      <a:endParaRPr sz="1100" u="none" strike="noStrike" cap="none">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latin typeface="Aharoni"/>
                          <a:ea typeface="Aharoni"/>
                          <a:cs typeface="Aharoni"/>
                          <a:sym typeface="Aharoni"/>
                        </a:rPr>
                        <a:t>חתימתי על מסמך זה מהווה התחייבות לשימוש בציוד מגן אישי ולפעול לפי התדריך שקיבלתי</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92" name="Google Shape;92;p1"/>
          <p:cNvPicPr preferRelativeResize="0"/>
          <p:nvPr/>
        </p:nvPicPr>
        <p:blipFill rotWithShape="1">
          <a:blip r:embed="rId3">
            <a:alphaModFix/>
          </a:blip>
          <a:srcRect r="74905"/>
          <a:stretch/>
        </p:blipFill>
        <p:spPr>
          <a:xfrm>
            <a:off x="203035" y="1535552"/>
            <a:ext cx="870192" cy="800212"/>
          </a:xfrm>
          <a:prstGeom prst="rect">
            <a:avLst/>
          </a:prstGeom>
          <a:noFill/>
          <a:ln>
            <a:noFill/>
          </a:ln>
        </p:spPr>
      </p:pic>
      <p:pic>
        <p:nvPicPr>
          <p:cNvPr id="93" name="Google Shape;93;p1"/>
          <p:cNvPicPr preferRelativeResize="0"/>
          <p:nvPr/>
        </p:nvPicPr>
        <p:blipFill rotWithShape="1">
          <a:blip r:embed="rId3">
            <a:alphaModFix/>
          </a:blip>
          <a:srcRect l="36083" r="33518"/>
          <a:stretch/>
        </p:blipFill>
        <p:spPr>
          <a:xfrm>
            <a:off x="1206413" y="1535552"/>
            <a:ext cx="1054100" cy="800212"/>
          </a:xfrm>
          <a:prstGeom prst="rect">
            <a:avLst/>
          </a:prstGeom>
          <a:noFill/>
          <a:ln>
            <a:noFill/>
          </a:ln>
        </p:spPr>
      </p:pic>
      <p:pic>
        <p:nvPicPr>
          <p:cNvPr id="94" name="Google Shape;94;p1"/>
          <p:cNvPicPr preferRelativeResize="0"/>
          <p:nvPr/>
        </p:nvPicPr>
        <p:blipFill rotWithShape="1">
          <a:blip r:embed="rId3">
            <a:alphaModFix/>
          </a:blip>
          <a:srcRect l="75636"/>
          <a:stretch/>
        </p:blipFill>
        <p:spPr>
          <a:xfrm>
            <a:off x="2321045" y="1535552"/>
            <a:ext cx="844792" cy="800212"/>
          </a:xfrm>
          <a:prstGeom prst="rect">
            <a:avLst/>
          </a:prstGeom>
          <a:noFill/>
          <a:ln>
            <a:noFill/>
          </a:ln>
        </p:spPr>
      </p:pic>
      <p:sp>
        <p:nvSpPr>
          <p:cNvPr id="95" name="Google Shape;95;p1"/>
          <p:cNvSpPr txBox="1"/>
          <p:nvPr/>
        </p:nvSpPr>
        <p:spPr>
          <a:xfrm>
            <a:off x="152312" y="2344974"/>
            <a:ext cx="1054101" cy="417686"/>
          </a:xfrm>
          <a:prstGeom prst="rect">
            <a:avLst/>
          </a:prstGeom>
          <a:noFill/>
          <a:ln>
            <a:noFill/>
          </a:ln>
        </p:spPr>
        <p:txBody>
          <a:bodyPr spcFirstLastPara="1" wrap="square" lIns="91425" tIns="45700" rIns="91425" bIns="45700" anchor="t" anchorCtr="0">
            <a:normAutofit fontScale="70000" lnSpcReduction="20000"/>
          </a:bodyPr>
          <a:lstStyle/>
          <a:p>
            <a:pPr marL="0" marR="0" lvl="0" indent="0" algn="ctr" rtl="1">
              <a:lnSpc>
                <a:spcPct val="90000"/>
              </a:lnSpc>
              <a:spcBef>
                <a:spcPts val="0"/>
              </a:spcBef>
              <a:spcAft>
                <a:spcPts val="0"/>
              </a:spcAft>
              <a:buClr>
                <a:schemeClr val="dk1"/>
              </a:buClr>
              <a:buSzPct val="100000"/>
              <a:buFont typeface="Arial"/>
              <a:buNone/>
            </a:pPr>
            <a:r>
              <a:rPr lang="iw-IL" sz="2100" b="1" i="0" u="none" strike="noStrike" cap="none">
                <a:solidFill>
                  <a:schemeClr val="dk1"/>
                </a:solidFill>
                <a:latin typeface="Aharoni"/>
                <a:ea typeface="Aharoni"/>
                <a:cs typeface="Aharoni"/>
                <a:sym typeface="Aharoni"/>
              </a:rPr>
              <a:t>משקפי מגן חובה !</a:t>
            </a:r>
            <a:endParaRPr/>
          </a:p>
        </p:txBody>
      </p:sp>
      <p:sp>
        <p:nvSpPr>
          <p:cNvPr id="96" name="Google Shape;96;p1"/>
          <p:cNvSpPr txBox="1"/>
          <p:nvPr/>
        </p:nvSpPr>
        <p:spPr>
          <a:xfrm>
            <a:off x="1206413" y="2335764"/>
            <a:ext cx="1054100" cy="40640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ctr" rtl="1">
              <a:lnSpc>
                <a:spcPct val="90000"/>
              </a:lnSpc>
              <a:spcBef>
                <a:spcPts val="0"/>
              </a:spcBef>
              <a:spcAft>
                <a:spcPts val="0"/>
              </a:spcAft>
              <a:buClr>
                <a:schemeClr val="dk1"/>
              </a:buClr>
              <a:buSzPct val="100000"/>
              <a:buFont typeface="Arial"/>
              <a:buNone/>
            </a:pPr>
            <a:r>
              <a:rPr lang="iw-IL" sz="2100" b="1" i="0" u="none" strike="noStrike" cap="none">
                <a:solidFill>
                  <a:schemeClr val="dk1"/>
                </a:solidFill>
                <a:latin typeface="Aharoni"/>
                <a:ea typeface="Aharoni"/>
                <a:cs typeface="Aharoni"/>
                <a:sym typeface="Aharoni"/>
              </a:rPr>
              <a:t>חובה לחבוש קסדת מגן</a:t>
            </a:r>
            <a:endParaRPr/>
          </a:p>
        </p:txBody>
      </p:sp>
      <p:sp>
        <p:nvSpPr>
          <p:cNvPr id="97" name="Google Shape;97;p1"/>
          <p:cNvSpPr txBox="1"/>
          <p:nvPr/>
        </p:nvSpPr>
        <p:spPr>
          <a:xfrm>
            <a:off x="2191473" y="2344974"/>
            <a:ext cx="1054101" cy="40640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ctr" rtl="1">
              <a:lnSpc>
                <a:spcPct val="90000"/>
              </a:lnSpc>
              <a:spcBef>
                <a:spcPts val="0"/>
              </a:spcBef>
              <a:spcAft>
                <a:spcPts val="0"/>
              </a:spcAft>
              <a:buClr>
                <a:schemeClr val="dk1"/>
              </a:buClr>
              <a:buSzPct val="100000"/>
              <a:buFont typeface="Arial"/>
              <a:buNone/>
            </a:pPr>
            <a:r>
              <a:rPr lang="iw-IL" sz="2100" b="1" i="0" u="none" strike="noStrike" cap="none">
                <a:solidFill>
                  <a:schemeClr val="dk1"/>
                </a:solidFill>
                <a:latin typeface="Aharoni"/>
                <a:ea typeface="Aharoni"/>
                <a:cs typeface="Aharoni"/>
                <a:sym typeface="Aharoni"/>
              </a:rPr>
              <a:t>חובה לנעול נעלי מגן</a:t>
            </a:r>
            <a:endParaRPr/>
          </a:p>
        </p:txBody>
      </p:sp>
      <p:cxnSp>
        <p:nvCxnSpPr>
          <p:cNvPr id="98" name="Google Shape;98;p1"/>
          <p:cNvCxnSpPr/>
          <p:nvPr/>
        </p:nvCxnSpPr>
        <p:spPr>
          <a:xfrm>
            <a:off x="0" y="5016500"/>
            <a:ext cx="6858000" cy="0"/>
          </a:xfrm>
          <a:prstGeom prst="straightConnector1">
            <a:avLst/>
          </a:prstGeom>
          <a:noFill/>
          <a:ln w="38100" cap="flat" cmpd="sng">
            <a:solidFill>
              <a:schemeClr val="dk1"/>
            </a:solidFill>
            <a:prstDash val="solid"/>
            <a:miter lim="800000"/>
            <a:headEnd type="none" w="sm" len="sm"/>
            <a:tailEnd type="none" w="sm" len="sm"/>
          </a:ln>
        </p:spPr>
      </p:cxnSp>
      <p:pic>
        <p:nvPicPr>
          <p:cNvPr id="99" name="Google Shape;99;p1"/>
          <p:cNvPicPr preferRelativeResize="0"/>
          <p:nvPr/>
        </p:nvPicPr>
        <p:blipFill rotWithShape="1">
          <a:blip r:embed="rId4">
            <a:alphaModFix/>
          </a:blip>
          <a:srcRect/>
          <a:stretch/>
        </p:blipFill>
        <p:spPr>
          <a:xfrm>
            <a:off x="287181" y="5114872"/>
            <a:ext cx="1038370" cy="714475"/>
          </a:xfrm>
          <a:prstGeom prst="rect">
            <a:avLst/>
          </a:prstGeom>
          <a:noFill/>
          <a:ln>
            <a:noFill/>
          </a:ln>
        </p:spPr>
      </p:pic>
      <p:sp>
        <p:nvSpPr>
          <p:cNvPr id="100" name="Google Shape;100;p1"/>
          <p:cNvSpPr txBox="1"/>
          <p:nvPr/>
        </p:nvSpPr>
        <p:spPr>
          <a:xfrm>
            <a:off x="203034" y="5898821"/>
            <a:ext cx="1206665" cy="450406"/>
          </a:xfrm>
          <a:prstGeom prst="rect">
            <a:avLst/>
          </a:prstGeom>
          <a:noFill/>
          <a:ln>
            <a:noFill/>
          </a:ln>
        </p:spPr>
        <p:txBody>
          <a:bodyPr spcFirstLastPara="1" wrap="square" lIns="91425" tIns="45700" rIns="91425" bIns="45700" anchor="t" anchorCtr="0">
            <a:noAutofit/>
          </a:bodyPr>
          <a:lstStyle/>
          <a:p>
            <a:pPr marL="0" marR="0" lvl="0" indent="0" algn="ctr" rtl="1">
              <a:lnSpc>
                <a:spcPct val="90000"/>
              </a:lnSpc>
              <a:spcBef>
                <a:spcPts val="0"/>
              </a:spcBef>
              <a:spcAft>
                <a:spcPts val="0"/>
              </a:spcAft>
              <a:buClr>
                <a:srgbClr val="FF0000"/>
              </a:buClr>
              <a:buSzPts val="1300"/>
              <a:buFont typeface="Arial"/>
              <a:buNone/>
            </a:pPr>
            <a:r>
              <a:rPr lang="iw-IL" sz="1300" b="1" i="0" u="none" strike="noStrike" cap="none">
                <a:solidFill>
                  <a:srgbClr val="FF0000"/>
                </a:solidFill>
                <a:latin typeface="Aharoni"/>
                <a:ea typeface="Aharoni"/>
                <a:cs typeface="Aharoni"/>
                <a:sym typeface="Aharoni"/>
              </a:rPr>
              <a:t>זהירות</a:t>
            </a:r>
            <a:endParaRPr/>
          </a:p>
          <a:p>
            <a:pPr marL="0" marR="0" lvl="0" indent="0" algn="ctr" rtl="1">
              <a:lnSpc>
                <a:spcPct val="90000"/>
              </a:lnSpc>
              <a:spcBef>
                <a:spcPts val="750"/>
              </a:spcBef>
              <a:spcAft>
                <a:spcPts val="0"/>
              </a:spcAft>
              <a:buClr>
                <a:schemeClr val="dk1"/>
              </a:buClr>
              <a:buSzPts val="1300"/>
              <a:buFont typeface="Arial"/>
              <a:buNone/>
            </a:pPr>
            <a:r>
              <a:rPr lang="iw-IL" sz="1300" b="1" i="0" u="none" strike="noStrike" cap="none">
                <a:solidFill>
                  <a:schemeClr val="dk1"/>
                </a:solidFill>
                <a:latin typeface="Aharoni"/>
                <a:ea typeface="Aharoni"/>
                <a:cs typeface="Aharoni"/>
                <a:sym typeface="Aharoni"/>
              </a:rPr>
              <a:t>טרקטור בתנועה</a:t>
            </a:r>
            <a:endParaRPr/>
          </a:p>
        </p:txBody>
      </p:sp>
      <p:sp>
        <p:nvSpPr>
          <p:cNvPr id="101" name="Google Shape;101;p1"/>
          <p:cNvSpPr txBox="1"/>
          <p:nvPr/>
        </p:nvSpPr>
        <p:spPr>
          <a:xfrm>
            <a:off x="0" y="5103513"/>
            <a:ext cx="6858000" cy="559948"/>
          </a:xfrm>
          <a:prstGeom prst="rect">
            <a:avLst/>
          </a:prstGeom>
          <a:noFill/>
          <a:ln>
            <a:noFill/>
          </a:ln>
        </p:spPr>
        <p:txBody>
          <a:bodyPr spcFirstLastPara="1" wrap="square" lIns="91425" tIns="45700" rIns="91425" bIns="45700" anchor="t" anchorCtr="0">
            <a:normAutofit/>
          </a:bodyPr>
          <a:lstStyle/>
          <a:p>
            <a:pPr marL="0" marR="0" lvl="0" indent="0" algn="r" rtl="1">
              <a:lnSpc>
                <a:spcPct val="90000"/>
              </a:lnSpc>
              <a:spcBef>
                <a:spcPts val="0"/>
              </a:spcBef>
              <a:spcAft>
                <a:spcPts val="0"/>
              </a:spcAft>
              <a:buClr>
                <a:schemeClr val="dk1"/>
              </a:buClr>
              <a:buSzPts val="2800"/>
              <a:buFont typeface="Arial"/>
              <a:buNone/>
            </a:pPr>
            <a:r>
              <a:rPr lang="iw-IL" sz="2800" b="1" i="0" u="sng" strike="noStrike" cap="none">
                <a:solidFill>
                  <a:schemeClr val="dk1"/>
                </a:solidFill>
                <a:latin typeface="Aharoni"/>
                <a:ea typeface="Aharoni"/>
                <a:cs typeface="Aharoni"/>
                <a:sym typeface="Aharoni"/>
              </a:rPr>
              <a:t>ציוד מכני הנדסי</a:t>
            </a:r>
            <a:endParaRPr/>
          </a:p>
        </p:txBody>
      </p:sp>
      <p:graphicFrame>
        <p:nvGraphicFramePr>
          <p:cNvPr id="102" name="Google Shape;102;p1"/>
          <p:cNvGraphicFramePr/>
          <p:nvPr/>
        </p:nvGraphicFramePr>
        <p:xfrm>
          <a:off x="143271" y="6476307"/>
          <a:ext cx="6571475" cy="2326196"/>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דריסה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פגיעות גוף</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החלקה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המחצויות</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הפעלה ע"י לא מורשים \ לא מנוסים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פגיעה בעובדים בזמן מעבר עבודה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נפילת עובדים מציוד הנדסי</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התהפכות ציוד מכני הנדסי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הפעלת ציוד מכני הנדסי אך ורק ע"י מורשים ובעלי ניסיון</a:t>
                      </a:r>
                      <a:endParaRPr sz="1100" b="1" u="none" strike="noStrike" cap="none">
                        <a:solidFill>
                          <a:schemeClr val="dk1"/>
                        </a:solidFill>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ציוד מכני הנדסי יהיה עם צופר נסיעה אחורנית, פנסי תאורה, פסים זוהרים וצ'קלקה</a:t>
                      </a:r>
                      <a:endParaRPr sz="1100" b="1" u="none" strike="noStrike" cap="none">
                        <a:solidFill>
                          <a:schemeClr val="dk1"/>
                        </a:solidFill>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בזמן מעבר או עבודה להיות עירני ולשמור על מרווח בטיחות, לגשת לציוד מכני הנדסי עם קשר עין עם המפעיל</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להיזהר מכלי ציוד מכני הנדסי שנוסע לאחור, נסיעה לאחור בליווי</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מהירות מירבית 10 קמ"ש , עליה \ ירידה לכלי מהמקומות הייעודיים</a:t>
                      </a:r>
                      <a:endParaRPr/>
                    </a:p>
                    <a:p>
                      <a:pPr marL="342900" marR="0" lvl="0" indent="-273050" algn="r" rtl="1">
                        <a:lnSpc>
                          <a:spcPct val="107000"/>
                        </a:lnSpc>
                        <a:spcBef>
                          <a:spcPts val="0"/>
                        </a:spcBef>
                        <a:spcAft>
                          <a:spcPts val="0"/>
                        </a:spcAft>
                        <a:buClr>
                          <a:schemeClr val="dk1"/>
                        </a:buClr>
                        <a:buSzPts val="1100"/>
                        <a:buFont typeface="Noto Sans Symbols"/>
                        <a:buNone/>
                      </a:pP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03" name="Google Shape;103;p1"/>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iw-IL"/>
              <a:t>הוראות בטיחות לעובד</a:t>
            </a:r>
            <a:endParaRPr/>
          </a:p>
        </p:txBody>
      </p:sp>
      <p:sp>
        <p:nvSpPr>
          <p:cNvPr id="104" name="Google Shape;104;p1"/>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iw-IL"/>
              <a:t>1</a:t>
            </a:fld>
            <a:endParaRPr/>
          </a:p>
        </p:txBody>
      </p:sp>
      <p:pic>
        <p:nvPicPr>
          <p:cNvPr id="2" name="תמונה 1">
            <a:extLst>
              <a:ext uri="{FF2B5EF4-FFF2-40B4-BE49-F238E27FC236}">
                <a16:creationId xmlns:a16="http://schemas.microsoft.com/office/drawing/2014/main" id="{0E71DFC0-28F0-6A3F-A18D-CE02A9D77417}"/>
              </a:ext>
            </a:extLst>
          </p:cNvPr>
          <p:cNvPicPr>
            <a:picLocks noChangeAspect="1"/>
          </p:cNvPicPr>
          <p:nvPr/>
        </p:nvPicPr>
        <p:blipFill>
          <a:blip r:embed="rId5"/>
          <a:stretch>
            <a:fillRect/>
          </a:stretch>
        </p:blipFill>
        <p:spPr>
          <a:xfrm>
            <a:off x="137720" y="91420"/>
            <a:ext cx="2012422" cy="70975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a:spLocks noGrp="1"/>
          </p:cNvSpPr>
          <p:nvPr>
            <p:ph type="title"/>
          </p:nvPr>
        </p:nvSpPr>
        <p:spPr>
          <a:xfrm>
            <a:off x="0" y="1035757"/>
            <a:ext cx="6858000" cy="417686"/>
          </a:xfrm>
          <a:prstGeom prst="rect">
            <a:avLst/>
          </a:prstGeom>
          <a:noFill/>
          <a:ln>
            <a:noFill/>
          </a:ln>
        </p:spPr>
        <p:txBody>
          <a:bodyPr spcFirstLastPara="1" wrap="square" lIns="91425" tIns="45700" rIns="91425" bIns="45700" anchor="ctr" anchorCtr="0">
            <a:normAutofit/>
          </a:bodyPr>
          <a:lstStyle/>
          <a:p>
            <a:pPr marL="0" lvl="0" indent="0" algn="ctr" rtl="1">
              <a:lnSpc>
                <a:spcPct val="90000"/>
              </a:lnSpc>
              <a:spcBef>
                <a:spcPts val="0"/>
              </a:spcBef>
              <a:spcAft>
                <a:spcPts val="0"/>
              </a:spcAft>
              <a:buClr>
                <a:schemeClr val="dk1"/>
              </a:buClr>
              <a:buSzPts val="2200"/>
              <a:buFont typeface="Aharoni"/>
              <a:buNone/>
            </a:pPr>
            <a:r>
              <a:rPr lang="iw-IL" sz="2200" b="1" u="sng">
                <a:latin typeface="Aharoni"/>
                <a:ea typeface="Aharoni"/>
                <a:cs typeface="Aharoni"/>
                <a:sym typeface="Aharoni"/>
              </a:rPr>
              <a:t>תמצית הדרכת בטיחות והוראות בטיחות לעבוד באתר בניה </a:t>
            </a:r>
            <a:endParaRPr/>
          </a:p>
        </p:txBody>
      </p:sp>
      <p:sp>
        <p:nvSpPr>
          <p:cNvPr id="110" name="Google Shape;110;p2"/>
          <p:cNvSpPr txBox="1">
            <a:spLocks noGrp="1"/>
          </p:cNvSpPr>
          <p:nvPr>
            <p:ph type="body" idx="1"/>
          </p:nvPr>
        </p:nvSpPr>
        <p:spPr>
          <a:xfrm>
            <a:off x="0" y="1540456"/>
            <a:ext cx="6857998" cy="559948"/>
          </a:xfrm>
          <a:prstGeom prst="rect">
            <a:avLst/>
          </a:prstGeom>
          <a:noFill/>
          <a:ln>
            <a:noFill/>
          </a:ln>
        </p:spPr>
        <p:txBody>
          <a:bodyPr spcFirstLastPara="1" wrap="square" lIns="91425" tIns="45700" rIns="91425" bIns="45700" anchor="t" anchorCtr="0">
            <a:normAutofit/>
          </a:bodyPr>
          <a:lstStyle/>
          <a:p>
            <a:pPr marL="0" lvl="0" indent="0" algn="r" rtl="1">
              <a:lnSpc>
                <a:spcPct val="90000"/>
              </a:lnSpc>
              <a:spcBef>
                <a:spcPts val="0"/>
              </a:spcBef>
              <a:spcAft>
                <a:spcPts val="0"/>
              </a:spcAft>
              <a:buClr>
                <a:schemeClr val="dk1"/>
              </a:buClr>
              <a:buSzPts val="2800"/>
              <a:buNone/>
            </a:pPr>
            <a:r>
              <a:rPr lang="iw-IL" sz="2800" b="1" u="sng">
                <a:latin typeface="Aharoni"/>
                <a:ea typeface="Aharoni"/>
                <a:cs typeface="Aharoni"/>
                <a:sym typeface="Aharoni"/>
              </a:rPr>
              <a:t>עבודה בגובה</a:t>
            </a:r>
            <a:endParaRPr/>
          </a:p>
        </p:txBody>
      </p:sp>
      <p:graphicFrame>
        <p:nvGraphicFramePr>
          <p:cNvPr id="111" name="Google Shape;111;p2"/>
          <p:cNvGraphicFramePr/>
          <p:nvPr/>
        </p:nvGraphicFramePr>
        <p:xfrm>
          <a:off x="143271" y="3072573"/>
          <a:ext cx="6571475" cy="3402521"/>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נפילה ממפלסים גבוהים ופיגומים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נפילה מציוד לעבודה בגובה כגון במות וסולמות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התחשמלות בגובה</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עובד לא מוסמך ולא מיומן לביצוע עבודה בגובה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ציוד עבודה לא תקני\תקין\מתאים\לא נכון</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אין מעקה תקני ובטוח למניעת נפילה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כשל בנקודת עגינה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הגדרה: עבודה בגובה עם סכנת נפילה לעומק 2 מ'</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אין מעקה תקני, הטיית גוף האדם מעבר למעקה, מתוך ציוד עבודה גובה סל הרמה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פיגום ממוכן סל הרמה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ציוד מגן אישי ועזר לעבודה בגובה: ייבדק לפני שימוש, עבודה ע"פ תקנות עבודה בגובה הוראות יצרן. לדווח על כל ליקוי פגם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סולמות: עליה עד מטר מקצה עליון, איסור הליכה, לא לעבודה ממושכת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במות פיגומים סלים: עבודה באישור מנהל עבודה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פיגומים/משטחי עבודה: לא לפרק חלקים, ברוחב 60 ס"מ לפחות, עליה/ירידה מסולמות, אין להעמיד סולם על הפיגום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כללי: עבודה בתנאי מזג ותאורה מתאימים לעבודה ולהפעלת ציוד נקודת עגינה 1.5 טון, עבודה בגובה לפחות שני אנשים, חובת שימוש קסדה עם סנטריה, רתמת גוף מלאה מערכת אבטחה למניעת/בלימת נפילה</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12" name="Google Shape;112;p2"/>
          <p:cNvSpPr txBox="1"/>
          <p:nvPr/>
        </p:nvSpPr>
        <p:spPr>
          <a:xfrm>
            <a:off x="0" y="2344973"/>
            <a:ext cx="1371600" cy="640587"/>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chemeClr val="dk1"/>
              </a:buClr>
              <a:buSzPts val="1200"/>
              <a:buFont typeface="Arial"/>
              <a:buNone/>
            </a:pPr>
            <a:r>
              <a:rPr lang="iw-IL" sz="1200" b="1" i="0" u="none" strike="noStrike" cap="none">
                <a:solidFill>
                  <a:schemeClr val="dk1"/>
                </a:solidFill>
                <a:latin typeface="Aharoni"/>
                <a:ea typeface="Aharoni"/>
                <a:cs typeface="Aharoni"/>
                <a:sym typeface="Aharoni"/>
              </a:rPr>
              <a:t>סולם פגום</a:t>
            </a:r>
            <a:endParaRPr/>
          </a:p>
          <a:p>
            <a:pPr marL="0" marR="0" lvl="0" indent="0" algn="ctr" rtl="1">
              <a:lnSpc>
                <a:spcPct val="90000"/>
              </a:lnSpc>
              <a:spcBef>
                <a:spcPts val="750"/>
              </a:spcBef>
              <a:spcAft>
                <a:spcPts val="0"/>
              </a:spcAft>
              <a:buClr>
                <a:srgbClr val="FF0000"/>
              </a:buClr>
              <a:buSzPts val="1200"/>
              <a:buFont typeface="Arial"/>
              <a:buNone/>
            </a:pPr>
            <a:r>
              <a:rPr lang="iw-IL" sz="1200" b="1" i="0" u="none" strike="noStrike" cap="none">
                <a:solidFill>
                  <a:srgbClr val="FF0000"/>
                </a:solidFill>
                <a:latin typeface="Aharoni"/>
                <a:ea typeface="Aharoni"/>
                <a:cs typeface="Aharoni"/>
                <a:sym typeface="Aharoni"/>
              </a:rPr>
              <a:t>השימוש אסור</a:t>
            </a:r>
            <a:endParaRPr/>
          </a:p>
        </p:txBody>
      </p:sp>
      <p:sp>
        <p:nvSpPr>
          <p:cNvPr id="113" name="Google Shape;113;p2"/>
          <p:cNvSpPr txBox="1"/>
          <p:nvPr/>
        </p:nvSpPr>
        <p:spPr>
          <a:xfrm>
            <a:off x="1206413" y="2335764"/>
            <a:ext cx="1054100" cy="40640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ctr" rtl="1">
              <a:lnSpc>
                <a:spcPct val="90000"/>
              </a:lnSpc>
              <a:spcBef>
                <a:spcPts val="0"/>
              </a:spcBef>
              <a:spcAft>
                <a:spcPts val="0"/>
              </a:spcAft>
              <a:buClr>
                <a:schemeClr val="dk1"/>
              </a:buClr>
              <a:buSzPct val="100000"/>
              <a:buFont typeface="Arial"/>
              <a:buNone/>
            </a:pPr>
            <a:r>
              <a:rPr lang="iw-IL" sz="2100" b="1" i="0" u="none" strike="noStrike" cap="none">
                <a:solidFill>
                  <a:schemeClr val="dk1"/>
                </a:solidFill>
                <a:latin typeface="Aharoni"/>
                <a:ea typeface="Aharoni"/>
                <a:cs typeface="Aharoni"/>
                <a:sym typeface="Aharoni"/>
              </a:rPr>
              <a:t>הישמר מנפילה</a:t>
            </a:r>
            <a:endParaRPr/>
          </a:p>
        </p:txBody>
      </p:sp>
      <p:cxnSp>
        <p:nvCxnSpPr>
          <p:cNvPr id="114" name="Google Shape;114;p2"/>
          <p:cNvCxnSpPr/>
          <p:nvPr/>
        </p:nvCxnSpPr>
        <p:spPr>
          <a:xfrm>
            <a:off x="-2" y="6764862"/>
            <a:ext cx="6858000" cy="0"/>
          </a:xfrm>
          <a:prstGeom prst="straightConnector1">
            <a:avLst/>
          </a:prstGeom>
          <a:noFill/>
          <a:ln w="38100" cap="flat" cmpd="sng">
            <a:solidFill>
              <a:schemeClr val="dk1"/>
            </a:solidFill>
            <a:prstDash val="solid"/>
            <a:miter lim="800000"/>
            <a:headEnd type="none" w="sm" len="sm"/>
            <a:tailEnd type="none" w="sm" len="sm"/>
          </a:ln>
        </p:spPr>
      </p:cxnSp>
      <p:sp>
        <p:nvSpPr>
          <p:cNvPr id="115" name="Google Shape;115;p2"/>
          <p:cNvSpPr txBox="1"/>
          <p:nvPr/>
        </p:nvSpPr>
        <p:spPr>
          <a:xfrm>
            <a:off x="105754" y="7779370"/>
            <a:ext cx="978606" cy="450406"/>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rgbClr val="FF0000"/>
              </a:buClr>
              <a:buSzPts val="1400"/>
              <a:buFont typeface="Arial"/>
              <a:buNone/>
            </a:pPr>
            <a:r>
              <a:rPr lang="iw-IL" sz="1400" b="1" i="0" u="none" strike="noStrike" cap="none">
                <a:solidFill>
                  <a:srgbClr val="FF0000"/>
                </a:solidFill>
                <a:latin typeface="Aharoni"/>
                <a:ea typeface="Aharoni"/>
                <a:cs typeface="Aharoni"/>
                <a:sym typeface="Aharoni"/>
              </a:rPr>
              <a:t>סכנה!</a:t>
            </a:r>
            <a:endParaRPr/>
          </a:p>
          <a:p>
            <a:pPr marL="0" marR="0" lvl="0" indent="0" algn="ctr" rtl="1">
              <a:lnSpc>
                <a:spcPct val="90000"/>
              </a:lnSpc>
              <a:spcBef>
                <a:spcPts val="750"/>
              </a:spcBef>
              <a:spcAft>
                <a:spcPts val="0"/>
              </a:spcAft>
              <a:buClr>
                <a:schemeClr val="dk1"/>
              </a:buClr>
              <a:buSzPts val="1400"/>
              <a:buFont typeface="Arial"/>
              <a:buNone/>
            </a:pPr>
            <a:endParaRPr sz="1400" b="1" i="0" u="none" strike="noStrike" cap="none">
              <a:solidFill>
                <a:schemeClr val="dk1"/>
              </a:solidFill>
              <a:latin typeface="Aharoni"/>
              <a:ea typeface="Aharoni"/>
              <a:cs typeface="Aharoni"/>
              <a:sym typeface="Aharoni"/>
            </a:endParaRPr>
          </a:p>
        </p:txBody>
      </p:sp>
      <p:sp>
        <p:nvSpPr>
          <p:cNvPr id="116" name="Google Shape;116;p2"/>
          <p:cNvSpPr txBox="1"/>
          <p:nvPr/>
        </p:nvSpPr>
        <p:spPr>
          <a:xfrm>
            <a:off x="1" y="6852822"/>
            <a:ext cx="6857998" cy="559001"/>
          </a:xfrm>
          <a:prstGeom prst="rect">
            <a:avLst/>
          </a:prstGeom>
          <a:noFill/>
          <a:ln>
            <a:noFill/>
          </a:ln>
        </p:spPr>
        <p:txBody>
          <a:bodyPr spcFirstLastPara="1" wrap="square" lIns="91425" tIns="45700" rIns="91425" bIns="45700" anchor="t" anchorCtr="0">
            <a:normAutofit/>
          </a:bodyPr>
          <a:lstStyle/>
          <a:p>
            <a:pPr marL="0" marR="0" lvl="0" indent="0" algn="r" rtl="1">
              <a:lnSpc>
                <a:spcPct val="90000"/>
              </a:lnSpc>
              <a:spcBef>
                <a:spcPts val="0"/>
              </a:spcBef>
              <a:spcAft>
                <a:spcPts val="0"/>
              </a:spcAft>
              <a:buClr>
                <a:schemeClr val="dk1"/>
              </a:buClr>
              <a:buSzPts val="2800"/>
              <a:buFont typeface="Arial"/>
              <a:buNone/>
            </a:pPr>
            <a:r>
              <a:rPr lang="iw-IL" sz="2800" b="1" i="0" u="sng" strike="noStrike" cap="none">
                <a:solidFill>
                  <a:schemeClr val="dk1"/>
                </a:solidFill>
                <a:latin typeface="Aharoni"/>
                <a:ea typeface="Aharoni"/>
                <a:cs typeface="Aharoni"/>
                <a:sym typeface="Aharoni"/>
              </a:rPr>
              <a:t>חשמל וציוד חשמלי מטלטל</a:t>
            </a:r>
            <a:endParaRPr/>
          </a:p>
        </p:txBody>
      </p:sp>
      <p:graphicFrame>
        <p:nvGraphicFramePr>
          <p:cNvPr id="117" name="Google Shape;117;p2"/>
          <p:cNvGraphicFramePr/>
          <p:nvPr/>
        </p:nvGraphicFramePr>
        <p:xfrm>
          <a:off x="143269" y="8505822"/>
          <a:ext cx="6571475" cy="2505584"/>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התחשמלות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כוויות\פגיעות עיניים\שריפה קשת חשמלית</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שימוש בציוד חשמלי לקוי או לא נכון</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תיקונים על ידי אנשים לא מורשים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פגיעה בכבלים ובתשתית חשמל</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התחשמלות מחשמל חי</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כבל מאריך בסביבה רטובה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ציוד חשמלי: שימוש ע"פ ייעודו ולפי הוראות יצרן, ייבדק ע"י חשמלאי מוסמך ולפני שימוש, אם לא תקין, יש להפסיק את העבודה ולהודיע למנהל עבודה, לא לפרק מגנים והגנות, תיקונים ע"י מורשים, לא להפעיל בסביבה רטובה, העובד יהיה בקי בהפעלת הציוד</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כבלים: בידוד כפול, לא ברצפה ולא בסביבה רטובה, שקע/תקע תעשייתי, הזנה דרך פחת, חבר אחרי פריסה, נתק לפני כיפול</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עבודות חשמל: לא במתח חי, בהשגחת חשמלאי מורשה, לנעול מקורות הזינה ולשלט, אין לבצע בסביבה רטובה וללא תאורה מספקת ובמזג אוויר מסוכן, לשמור מרחק מרשת אווירית לפחות 5 מ'</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18" name="Google Shape;118;p2"/>
          <p:cNvPicPr preferRelativeResize="0"/>
          <p:nvPr/>
        </p:nvPicPr>
        <p:blipFill rotWithShape="1">
          <a:blip r:embed="rId3">
            <a:alphaModFix/>
          </a:blip>
          <a:srcRect r="60080"/>
          <a:stretch/>
        </p:blipFill>
        <p:spPr>
          <a:xfrm>
            <a:off x="274366" y="1630815"/>
            <a:ext cx="809994" cy="704948"/>
          </a:xfrm>
          <a:prstGeom prst="rect">
            <a:avLst/>
          </a:prstGeom>
          <a:noFill/>
          <a:ln>
            <a:noFill/>
          </a:ln>
        </p:spPr>
      </p:pic>
      <p:pic>
        <p:nvPicPr>
          <p:cNvPr id="119" name="Google Shape;119;p2"/>
          <p:cNvPicPr preferRelativeResize="0"/>
          <p:nvPr/>
        </p:nvPicPr>
        <p:blipFill rotWithShape="1">
          <a:blip r:embed="rId3">
            <a:alphaModFix/>
          </a:blip>
          <a:srcRect l="53635"/>
          <a:stretch/>
        </p:blipFill>
        <p:spPr>
          <a:xfrm>
            <a:off x="1250666" y="1657219"/>
            <a:ext cx="940807" cy="704948"/>
          </a:xfrm>
          <a:prstGeom prst="rect">
            <a:avLst/>
          </a:prstGeom>
          <a:noFill/>
          <a:ln>
            <a:noFill/>
          </a:ln>
        </p:spPr>
      </p:pic>
      <p:pic>
        <p:nvPicPr>
          <p:cNvPr id="120" name="Google Shape;120;p2"/>
          <p:cNvPicPr preferRelativeResize="0"/>
          <p:nvPr/>
        </p:nvPicPr>
        <p:blipFill rotWithShape="1">
          <a:blip r:embed="rId4">
            <a:alphaModFix/>
          </a:blip>
          <a:srcRect r="54901"/>
          <a:stretch/>
        </p:blipFill>
        <p:spPr>
          <a:xfrm>
            <a:off x="143269" y="6964180"/>
            <a:ext cx="876436" cy="762106"/>
          </a:xfrm>
          <a:prstGeom prst="rect">
            <a:avLst/>
          </a:prstGeom>
          <a:noFill/>
          <a:ln>
            <a:noFill/>
          </a:ln>
        </p:spPr>
      </p:pic>
      <p:pic>
        <p:nvPicPr>
          <p:cNvPr id="121" name="Google Shape;121;p2"/>
          <p:cNvPicPr preferRelativeResize="0"/>
          <p:nvPr/>
        </p:nvPicPr>
        <p:blipFill rotWithShape="1">
          <a:blip r:embed="rId4">
            <a:alphaModFix/>
          </a:blip>
          <a:srcRect l="59313"/>
          <a:stretch/>
        </p:blipFill>
        <p:spPr>
          <a:xfrm>
            <a:off x="1217396" y="6964180"/>
            <a:ext cx="790710" cy="762106"/>
          </a:xfrm>
          <a:prstGeom prst="rect">
            <a:avLst/>
          </a:prstGeom>
          <a:noFill/>
          <a:ln>
            <a:noFill/>
          </a:ln>
        </p:spPr>
      </p:pic>
      <p:sp>
        <p:nvSpPr>
          <p:cNvPr id="122" name="Google Shape;122;p2"/>
          <p:cNvSpPr txBox="1"/>
          <p:nvPr/>
        </p:nvSpPr>
        <p:spPr>
          <a:xfrm>
            <a:off x="1206413" y="7779370"/>
            <a:ext cx="978606" cy="450406"/>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chemeClr val="dk1"/>
              </a:buClr>
              <a:buSzPts val="1400"/>
              <a:buFont typeface="Arial"/>
              <a:buNone/>
            </a:pPr>
            <a:r>
              <a:rPr lang="iw-IL" sz="1400" b="1" i="0" u="none" strike="noStrike" cap="none">
                <a:solidFill>
                  <a:schemeClr val="dk1"/>
                </a:solidFill>
                <a:latin typeface="Aharoni"/>
                <a:ea typeface="Aharoni"/>
                <a:cs typeface="Aharoni"/>
                <a:sym typeface="Aharoni"/>
              </a:rPr>
              <a:t>מיגון חובה!</a:t>
            </a:r>
            <a:endParaRPr/>
          </a:p>
        </p:txBody>
      </p:sp>
      <p:sp>
        <p:nvSpPr>
          <p:cNvPr id="123" name="Google Shape;123;p2"/>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iw-IL"/>
              <a:t>הוראות בטיחות לעובד</a:t>
            </a:r>
            <a:endParaRPr/>
          </a:p>
        </p:txBody>
      </p:sp>
      <p:sp>
        <p:nvSpPr>
          <p:cNvPr id="124" name="Google Shape;124;p2"/>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iw-IL"/>
              <a:t>2</a:t>
            </a:fld>
            <a:endParaRPr/>
          </a:p>
        </p:txBody>
      </p:sp>
      <p:pic>
        <p:nvPicPr>
          <p:cNvPr id="4" name="תמונה 3">
            <a:extLst>
              <a:ext uri="{FF2B5EF4-FFF2-40B4-BE49-F238E27FC236}">
                <a16:creationId xmlns:a16="http://schemas.microsoft.com/office/drawing/2014/main" id="{4DCFE174-0FE8-E01D-F430-11F6B477A787}"/>
              </a:ext>
            </a:extLst>
          </p:cNvPr>
          <p:cNvPicPr>
            <a:picLocks noChangeAspect="1"/>
          </p:cNvPicPr>
          <p:nvPr/>
        </p:nvPicPr>
        <p:blipFill>
          <a:blip r:embed="rId5"/>
          <a:stretch>
            <a:fillRect/>
          </a:stretch>
        </p:blipFill>
        <p:spPr>
          <a:xfrm>
            <a:off x="237205" y="160795"/>
            <a:ext cx="2012422" cy="7097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3"/>
          <p:cNvSpPr txBox="1">
            <a:spLocks noGrp="1"/>
          </p:cNvSpPr>
          <p:nvPr>
            <p:ph type="title"/>
          </p:nvPr>
        </p:nvSpPr>
        <p:spPr>
          <a:xfrm>
            <a:off x="0" y="1035757"/>
            <a:ext cx="6858000" cy="417686"/>
          </a:xfrm>
          <a:prstGeom prst="rect">
            <a:avLst/>
          </a:prstGeom>
          <a:noFill/>
          <a:ln>
            <a:noFill/>
          </a:ln>
        </p:spPr>
        <p:txBody>
          <a:bodyPr spcFirstLastPara="1" wrap="square" lIns="91425" tIns="45700" rIns="91425" bIns="45700" anchor="ctr" anchorCtr="0">
            <a:normAutofit fontScale="90000"/>
          </a:bodyPr>
          <a:lstStyle/>
          <a:p>
            <a:pPr marL="0" lvl="0" indent="0" algn="ctr" rtl="1">
              <a:lnSpc>
                <a:spcPct val="90000"/>
              </a:lnSpc>
              <a:spcBef>
                <a:spcPts val="0"/>
              </a:spcBef>
              <a:spcAft>
                <a:spcPts val="0"/>
              </a:spcAft>
              <a:buClr>
                <a:schemeClr val="dk1"/>
              </a:buClr>
              <a:buSzPct val="100000"/>
              <a:buFont typeface="Aharoni"/>
              <a:buNone/>
            </a:pPr>
            <a:r>
              <a:rPr lang="iw-IL" sz="2400" b="1" u="sng">
                <a:latin typeface="Aharoni"/>
                <a:ea typeface="Aharoni"/>
                <a:cs typeface="Aharoni"/>
                <a:sym typeface="Aharoni"/>
              </a:rPr>
              <a:t>תמצית הדרכת בטיחות והוראות בטיחות לעבוד באתר בניה </a:t>
            </a:r>
            <a:endParaRPr/>
          </a:p>
        </p:txBody>
      </p:sp>
      <p:sp>
        <p:nvSpPr>
          <p:cNvPr id="131" name="Google Shape;131;p3"/>
          <p:cNvSpPr txBox="1">
            <a:spLocks noGrp="1"/>
          </p:cNvSpPr>
          <p:nvPr>
            <p:ph type="body" idx="1"/>
          </p:nvPr>
        </p:nvSpPr>
        <p:spPr>
          <a:xfrm>
            <a:off x="10643" y="1610733"/>
            <a:ext cx="6847355" cy="559948"/>
          </a:xfrm>
          <a:prstGeom prst="rect">
            <a:avLst/>
          </a:prstGeom>
          <a:noFill/>
          <a:ln>
            <a:noFill/>
          </a:ln>
        </p:spPr>
        <p:txBody>
          <a:bodyPr spcFirstLastPara="1" wrap="square" lIns="91425" tIns="45700" rIns="91425" bIns="45700" anchor="t" anchorCtr="0">
            <a:normAutofit/>
          </a:bodyPr>
          <a:lstStyle/>
          <a:p>
            <a:pPr marL="0" lvl="0" indent="0" algn="r" rtl="1">
              <a:lnSpc>
                <a:spcPct val="90000"/>
              </a:lnSpc>
              <a:spcBef>
                <a:spcPts val="0"/>
              </a:spcBef>
              <a:spcAft>
                <a:spcPts val="0"/>
              </a:spcAft>
              <a:buClr>
                <a:schemeClr val="dk1"/>
              </a:buClr>
              <a:buSzPts val="2800"/>
              <a:buNone/>
            </a:pPr>
            <a:r>
              <a:rPr lang="iw-IL" sz="2800" b="1" u="sng">
                <a:latin typeface="Aharoni"/>
                <a:ea typeface="Aharoni"/>
                <a:cs typeface="Aharoni"/>
                <a:sym typeface="Aharoni"/>
              </a:rPr>
              <a:t>חפירות</a:t>
            </a:r>
            <a:endParaRPr/>
          </a:p>
        </p:txBody>
      </p:sp>
      <p:graphicFrame>
        <p:nvGraphicFramePr>
          <p:cNvPr id="132" name="Google Shape;132;p3"/>
          <p:cNvGraphicFramePr/>
          <p:nvPr/>
        </p:nvGraphicFramePr>
        <p:xfrm>
          <a:off x="143271" y="3072573"/>
          <a:ext cx="6571475" cy="2146809"/>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6405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חבלות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נפילות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התמוטטות חפירה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התחשמלות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הקשות</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נפילת עובדים בחפירה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התמוטטות חפירה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פגיעה בתשתיות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התהפכות ציוד הנדסי</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הקשות מזוחלים</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ביצוע חפירה באישור מנהל עבודה ולאחר סריקת תשתיות ובעלי חיים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עבודה ליד תשתיות בכלים ידניים ובזהירות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עליה וירידה ממקומות ייעודיים, חובת גידור חפירה ושילוט</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חפירה לפי שיפוע טבעי\דיפון, נקיטת אמצעים למניעת התמוטטות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רוחב חפירה יאפשר ביצוע העבודה , מעברים מעל חפירה 60 ס"מ</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ציוד הנדסי יתקרב עד למרחק בטוח, עובדים לא יעבדו בסביבת הציוד</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3" name="Google Shape;133;p3"/>
          <p:cNvSpPr txBox="1"/>
          <p:nvPr/>
        </p:nvSpPr>
        <p:spPr>
          <a:xfrm>
            <a:off x="153385" y="2314996"/>
            <a:ext cx="1276264" cy="640587"/>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rgbClr val="FF0000"/>
              </a:buClr>
              <a:buSzPts val="1300"/>
              <a:buFont typeface="Arial"/>
              <a:buNone/>
            </a:pPr>
            <a:r>
              <a:rPr lang="iw-IL" sz="1300" b="1" i="0" u="none" strike="noStrike" cap="none">
                <a:solidFill>
                  <a:srgbClr val="FF0000"/>
                </a:solidFill>
                <a:latin typeface="Aharoni"/>
                <a:ea typeface="Aharoni"/>
                <a:cs typeface="Aharoni"/>
                <a:sym typeface="Aharoni"/>
              </a:rPr>
              <a:t>סכנה!</a:t>
            </a:r>
            <a:endParaRPr/>
          </a:p>
          <a:p>
            <a:pPr marL="0" marR="0" lvl="0" indent="0" algn="ctr" rtl="1">
              <a:lnSpc>
                <a:spcPct val="90000"/>
              </a:lnSpc>
              <a:spcBef>
                <a:spcPts val="750"/>
              </a:spcBef>
              <a:spcAft>
                <a:spcPts val="0"/>
              </a:spcAft>
              <a:buClr>
                <a:schemeClr val="dk1"/>
              </a:buClr>
              <a:buSzPts val="1300"/>
              <a:buFont typeface="Arial"/>
              <a:buNone/>
            </a:pPr>
            <a:r>
              <a:rPr lang="iw-IL" sz="1300" b="1" i="0" u="none" strike="noStrike" cap="none">
                <a:solidFill>
                  <a:schemeClr val="dk1"/>
                </a:solidFill>
                <a:latin typeface="Aharoni"/>
                <a:ea typeface="Aharoni"/>
                <a:cs typeface="Aharoni"/>
                <a:sym typeface="Aharoni"/>
              </a:rPr>
              <a:t>תעלה פתוחה</a:t>
            </a:r>
            <a:endParaRPr/>
          </a:p>
        </p:txBody>
      </p:sp>
      <p:cxnSp>
        <p:nvCxnSpPr>
          <p:cNvPr id="134" name="Google Shape;134;p3"/>
          <p:cNvCxnSpPr/>
          <p:nvPr/>
        </p:nvCxnSpPr>
        <p:spPr>
          <a:xfrm>
            <a:off x="0" y="5447690"/>
            <a:ext cx="6858000" cy="0"/>
          </a:xfrm>
          <a:prstGeom prst="straightConnector1">
            <a:avLst/>
          </a:prstGeom>
          <a:noFill/>
          <a:ln w="38100" cap="flat" cmpd="sng">
            <a:solidFill>
              <a:schemeClr val="dk1"/>
            </a:solidFill>
            <a:prstDash val="solid"/>
            <a:miter lim="800000"/>
            <a:headEnd type="none" w="sm" len="sm"/>
            <a:tailEnd type="none" w="sm" len="sm"/>
          </a:ln>
        </p:spPr>
      </p:cxnSp>
      <p:sp>
        <p:nvSpPr>
          <p:cNvPr id="135" name="Google Shape;135;p3"/>
          <p:cNvSpPr txBox="1"/>
          <p:nvPr/>
        </p:nvSpPr>
        <p:spPr>
          <a:xfrm>
            <a:off x="34967" y="6209942"/>
            <a:ext cx="1111063" cy="600511"/>
          </a:xfrm>
          <a:prstGeom prst="rect">
            <a:avLst/>
          </a:prstGeom>
          <a:noFill/>
          <a:ln>
            <a:noFill/>
          </a:ln>
        </p:spPr>
        <p:txBody>
          <a:bodyPr spcFirstLastPara="1" wrap="square" lIns="91425" tIns="45700" rIns="91425" bIns="45700" anchor="t" anchorCtr="0">
            <a:normAutofit fontScale="92500"/>
          </a:bodyPr>
          <a:lstStyle/>
          <a:p>
            <a:pPr marL="0" marR="0" lvl="0" indent="0" algn="ctr" rtl="1">
              <a:lnSpc>
                <a:spcPct val="90000"/>
              </a:lnSpc>
              <a:spcBef>
                <a:spcPts val="0"/>
              </a:spcBef>
              <a:spcAft>
                <a:spcPts val="0"/>
              </a:spcAft>
              <a:buClr>
                <a:schemeClr val="dk1"/>
              </a:buClr>
              <a:buSzPct val="100000"/>
              <a:buFont typeface="Arial"/>
              <a:buNone/>
            </a:pPr>
            <a:r>
              <a:rPr lang="iw-IL" sz="1400" b="1" i="0" u="none" strike="noStrike" cap="none">
                <a:solidFill>
                  <a:schemeClr val="dk1"/>
                </a:solidFill>
                <a:latin typeface="Aharoni"/>
                <a:ea typeface="Aharoni"/>
                <a:cs typeface="Aharoni"/>
                <a:sym typeface="Aharoni"/>
              </a:rPr>
              <a:t>אש, להבה גלויה ועישון אסורים</a:t>
            </a:r>
            <a:endParaRPr/>
          </a:p>
        </p:txBody>
      </p:sp>
      <p:sp>
        <p:nvSpPr>
          <p:cNvPr id="136" name="Google Shape;136;p3"/>
          <p:cNvSpPr txBox="1"/>
          <p:nvPr/>
        </p:nvSpPr>
        <p:spPr>
          <a:xfrm>
            <a:off x="-13117" y="5492704"/>
            <a:ext cx="6871115" cy="559001"/>
          </a:xfrm>
          <a:prstGeom prst="rect">
            <a:avLst/>
          </a:prstGeom>
          <a:noFill/>
          <a:ln>
            <a:noFill/>
          </a:ln>
        </p:spPr>
        <p:txBody>
          <a:bodyPr spcFirstLastPara="1" wrap="square" lIns="91425" tIns="45700" rIns="91425" bIns="45700" anchor="t" anchorCtr="0">
            <a:normAutofit/>
          </a:bodyPr>
          <a:lstStyle/>
          <a:p>
            <a:pPr marL="0" marR="0" lvl="0" indent="0" algn="r" rtl="1">
              <a:lnSpc>
                <a:spcPct val="90000"/>
              </a:lnSpc>
              <a:spcBef>
                <a:spcPts val="0"/>
              </a:spcBef>
              <a:spcAft>
                <a:spcPts val="0"/>
              </a:spcAft>
              <a:buClr>
                <a:schemeClr val="dk1"/>
              </a:buClr>
              <a:buSzPts val="2800"/>
              <a:buFont typeface="Arial"/>
              <a:buNone/>
            </a:pPr>
            <a:r>
              <a:rPr lang="iw-IL" sz="2800" b="1" i="0" u="sng" strike="noStrike" cap="none">
                <a:solidFill>
                  <a:schemeClr val="dk1"/>
                </a:solidFill>
                <a:latin typeface="Aharoni"/>
                <a:ea typeface="Aharoni"/>
                <a:cs typeface="Aharoni"/>
                <a:sym typeface="Aharoni"/>
              </a:rPr>
              <a:t>עבודות חמות</a:t>
            </a:r>
            <a:endParaRPr/>
          </a:p>
        </p:txBody>
      </p:sp>
      <p:graphicFrame>
        <p:nvGraphicFramePr>
          <p:cNvPr id="137" name="Google Shape;137;p3"/>
          <p:cNvGraphicFramePr/>
          <p:nvPr/>
        </p:nvGraphicFramePr>
        <p:xfrm>
          <a:off x="153914" y="6676617"/>
          <a:ext cx="6571475" cy="1788034"/>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פגיעות עיניים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כוויות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דליקה\שריפה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התפוצצויות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התחשמלות</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שימוש בציוד מגן אישי לא תקין, כשל בציוד</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פיצוץ גלילי גז</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שריפות עובדים\ציוד\סביבה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עבודות חמות: לאחר אישור ממנהל עבודה, הגנת תשתיות, ציוד מגן אישי מתאים, צופה אש באזור בזמן ולאחר ביצוע, להרחיק חומרים דליקים/בעירים לפחות 10 מ', להחזיק אמצעי כיבוי מתאימים, להרחיק כבלי חשמל</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גלילי גז: טיפול ע"י עובדים בקיאים,שינוע בצורה בטוחה,לקבע בניצב לרצפה, להשתמש במכסים, להרחיק שמנים, להרחיק ממקור חום, צנרת תקינה עם ציוד בטיחותי תקני, תקין ובתוקף</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38" name="Google Shape;138;p3"/>
          <p:cNvPicPr preferRelativeResize="0"/>
          <p:nvPr/>
        </p:nvPicPr>
        <p:blipFill rotWithShape="1">
          <a:blip r:embed="rId3">
            <a:alphaModFix/>
          </a:blip>
          <a:srcRect/>
          <a:stretch/>
        </p:blipFill>
        <p:spPr>
          <a:xfrm>
            <a:off x="358069" y="1640860"/>
            <a:ext cx="866896" cy="714475"/>
          </a:xfrm>
          <a:prstGeom prst="rect">
            <a:avLst/>
          </a:prstGeom>
          <a:noFill/>
          <a:ln>
            <a:noFill/>
          </a:ln>
        </p:spPr>
      </p:pic>
      <p:pic>
        <p:nvPicPr>
          <p:cNvPr id="139" name="Google Shape;139;p3"/>
          <p:cNvPicPr preferRelativeResize="0"/>
          <p:nvPr/>
        </p:nvPicPr>
        <p:blipFill rotWithShape="1">
          <a:blip r:embed="rId4">
            <a:alphaModFix/>
          </a:blip>
          <a:srcRect/>
          <a:stretch/>
        </p:blipFill>
        <p:spPr>
          <a:xfrm>
            <a:off x="204683" y="5496328"/>
            <a:ext cx="771633" cy="743054"/>
          </a:xfrm>
          <a:prstGeom prst="rect">
            <a:avLst/>
          </a:prstGeom>
          <a:noFill/>
          <a:ln>
            <a:noFill/>
          </a:ln>
        </p:spPr>
      </p:pic>
      <p:cxnSp>
        <p:nvCxnSpPr>
          <p:cNvPr id="140" name="Google Shape;140;p3"/>
          <p:cNvCxnSpPr/>
          <p:nvPr/>
        </p:nvCxnSpPr>
        <p:spPr>
          <a:xfrm>
            <a:off x="-6560" y="8644008"/>
            <a:ext cx="6858000" cy="0"/>
          </a:xfrm>
          <a:prstGeom prst="straightConnector1">
            <a:avLst/>
          </a:prstGeom>
          <a:noFill/>
          <a:ln w="38100" cap="flat" cmpd="sng">
            <a:solidFill>
              <a:schemeClr val="dk1"/>
            </a:solidFill>
            <a:prstDash val="solid"/>
            <a:miter lim="800000"/>
            <a:headEnd type="none" w="sm" len="sm"/>
            <a:tailEnd type="none" w="sm" len="sm"/>
          </a:ln>
        </p:spPr>
      </p:cxnSp>
      <p:pic>
        <p:nvPicPr>
          <p:cNvPr id="141" name="Google Shape;141;p3"/>
          <p:cNvPicPr preferRelativeResize="0"/>
          <p:nvPr/>
        </p:nvPicPr>
        <p:blipFill rotWithShape="1">
          <a:blip r:embed="rId5">
            <a:alphaModFix/>
          </a:blip>
          <a:srcRect r="50000"/>
          <a:stretch/>
        </p:blipFill>
        <p:spPr>
          <a:xfrm>
            <a:off x="204683" y="8734372"/>
            <a:ext cx="866896" cy="752580"/>
          </a:xfrm>
          <a:prstGeom prst="rect">
            <a:avLst/>
          </a:prstGeom>
          <a:noFill/>
          <a:ln>
            <a:noFill/>
          </a:ln>
        </p:spPr>
      </p:pic>
      <p:pic>
        <p:nvPicPr>
          <p:cNvPr id="142" name="Google Shape;142;p3"/>
          <p:cNvPicPr preferRelativeResize="0"/>
          <p:nvPr/>
        </p:nvPicPr>
        <p:blipFill rotWithShape="1">
          <a:blip r:embed="rId5">
            <a:alphaModFix/>
          </a:blip>
          <a:srcRect l="54399"/>
          <a:stretch/>
        </p:blipFill>
        <p:spPr>
          <a:xfrm>
            <a:off x="1206413" y="8734372"/>
            <a:ext cx="790609" cy="752580"/>
          </a:xfrm>
          <a:prstGeom prst="rect">
            <a:avLst/>
          </a:prstGeom>
          <a:noFill/>
          <a:ln>
            <a:noFill/>
          </a:ln>
        </p:spPr>
      </p:pic>
      <p:sp>
        <p:nvSpPr>
          <p:cNvPr id="143" name="Google Shape;143;p3"/>
          <p:cNvSpPr txBox="1"/>
          <p:nvPr/>
        </p:nvSpPr>
        <p:spPr>
          <a:xfrm>
            <a:off x="-13925" y="9441938"/>
            <a:ext cx="2285638" cy="362178"/>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rgbClr val="FF0000"/>
              </a:buClr>
              <a:buSzPts val="1200"/>
              <a:buFont typeface="Arial"/>
              <a:buNone/>
            </a:pPr>
            <a:r>
              <a:rPr lang="iw-IL" sz="1200" b="1" i="0" u="none" strike="noStrike" cap="none">
                <a:solidFill>
                  <a:srgbClr val="FF0000"/>
                </a:solidFill>
                <a:latin typeface="Aharoni"/>
                <a:ea typeface="Aharoni"/>
                <a:cs typeface="Aharoni"/>
                <a:sym typeface="Aharoni"/>
              </a:rPr>
              <a:t>סכנה! אסור לעמוד  </a:t>
            </a:r>
            <a:r>
              <a:rPr lang="iw-IL" sz="1200" b="1" i="0" u="none" strike="noStrike" cap="none">
                <a:solidFill>
                  <a:schemeClr val="dk1"/>
                </a:solidFill>
                <a:latin typeface="Aharoni"/>
                <a:ea typeface="Aharoni"/>
                <a:cs typeface="Aharoni"/>
                <a:sym typeface="Aharoni"/>
              </a:rPr>
              <a:t>מתחת למטען מורם</a:t>
            </a:r>
            <a:endParaRPr/>
          </a:p>
        </p:txBody>
      </p:sp>
      <p:sp>
        <p:nvSpPr>
          <p:cNvPr id="144" name="Google Shape;144;p3"/>
          <p:cNvSpPr txBox="1"/>
          <p:nvPr/>
        </p:nvSpPr>
        <p:spPr>
          <a:xfrm>
            <a:off x="0" y="8754247"/>
            <a:ext cx="6870233" cy="559001"/>
          </a:xfrm>
          <a:prstGeom prst="rect">
            <a:avLst/>
          </a:prstGeom>
          <a:noFill/>
          <a:ln>
            <a:noFill/>
          </a:ln>
        </p:spPr>
        <p:txBody>
          <a:bodyPr spcFirstLastPara="1" wrap="square" lIns="91425" tIns="45700" rIns="91425" bIns="45700" anchor="t" anchorCtr="0">
            <a:normAutofit/>
          </a:bodyPr>
          <a:lstStyle/>
          <a:p>
            <a:pPr marL="0" marR="0" lvl="0" indent="0" algn="r" rtl="1">
              <a:lnSpc>
                <a:spcPct val="90000"/>
              </a:lnSpc>
              <a:spcBef>
                <a:spcPts val="0"/>
              </a:spcBef>
              <a:spcAft>
                <a:spcPts val="0"/>
              </a:spcAft>
              <a:buClr>
                <a:schemeClr val="dk1"/>
              </a:buClr>
              <a:buSzPts val="2800"/>
              <a:buFont typeface="Arial"/>
              <a:buNone/>
            </a:pPr>
            <a:r>
              <a:rPr lang="iw-IL" sz="2800" b="1" i="0" u="sng" strike="noStrike" cap="none">
                <a:solidFill>
                  <a:schemeClr val="dk1"/>
                </a:solidFill>
                <a:latin typeface="Aharoni"/>
                <a:ea typeface="Aharoni"/>
                <a:cs typeface="Aharoni"/>
                <a:sym typeface="Aharoni"/>
              </a:rPr>
              <a:t>עבודות הנפה</a:t>
            </a:r>
            <a:endParaRPr/>
          </a:p>
        </p:txBody>
      </p:sp>
      <p:graphicFrame>
        <p:nvGraphicFramePr>
          <p:cNvPr id="145" name="Google Shape;145;p3"/>
          <p:cNvGraphicFramePr/>
          <p:nvPr/>
        </p:nvGraphicFramePr>
        <p:xfrm>
          <a:off x="153914" y="9736925"/>
          <a:ext cx="6571475" cy="1788034"/>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פגיעות גוף</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פגיעות גפיים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המחצויות</a:t>
                      </a:r>
                      <a:endParaRPr sz="1100" b="0" u="none" strike="noStrike" cap="none">
                        <a:solidFill>
                          <a:schemeClr val="dk1"/>
                        </a:solidFill>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פגיעות ראש</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כשל במתקן\אביזרי הרמה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פגיעות עובדים ממטענים מורמים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נפילת חלקי מטענים</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מתקן הרמה ואבזרי הרמה: יבדקו ע"י בודק מוסמך ולפני שימוש,יופעלו ע"י מפעילים מורשים ומנוסים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עבודות הנפה: באישור מנהל העבודה, גידור אזור ההנפה, קשירה והכוונה ע"י אתתים, אין לעבוד מתחת למטען מורם, טיפול במטען מטר מגובה הרצפה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למניעת נפילת חלקים: הנפה בכלים ייעודים, קשירת וחביקת מטענים, עבודה בזהירות ובצורה אנכית</a:t>
                      </a:r>
                      <a:endParaRPr/>
                    </a:p>
                    <a:p>
                      <a:pPr marL="342900" marR="0" lvl="0" indent="-273050" algn="r" rtl="1">
                        <a:lnSpc>
                          <a:spcPct val="107000"/>
                        </a:lnSpc>
                        <a:spcBef>
                          <a:spcPts val="0"/>
                        </a:spcBef>
                        <a:spcAft>
                          <a:spcPts val="0"/>
                        </a:spcAft>
                        <a:buClr>
                          <a:schemeClr val="dk1"/>
                        </a:buClr>
                        <a:buSzPts val="1100"/>
                        <a:buFont typeface="Noto Sans Symbols"/>
                        <a:buNone/>
                      </a:pP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46" name="Google Shape;146;p3"/>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iw-IL"/>
              <a:t>הוראות בטיחות לעובד</a:t>
            </a:r>
            <a:endParaRPr/>
          </a:p>
        </p:txBody>
      </p:sp>
      <p:sp>
        <p:nvSpPr>
          <p:cNvPr id="147" name="Google Shape;147;p3"/>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iw-IL"/>
              <a:t>3</a:t>
            </a:fld>
            <a:endParaRPr/>
          </a:p>
        </p:txBody>
      </p:sp>
      <p:pic>
        <p:nvPicPr>
          <p:cNvPr id="3" name="תמונה 2">
            <a:extLst>
              <a:ext uri="{FF2B5EF4-FFF2-40B4-BE49-F238E27FC236}">
                <a16:creationId xmlns:a16="http://schemas.microsoft.com/office/drawing/2014/main" id="{FB0D22D4-4D8A-7812-6266-CA3D97F3725F}"/>
              </a:ext>
            </a:extLst>
          </p:cNvPr>
          <p:cNvPicPr>
            <a:picLocks noChangeAspect="1"/>
          </p:cNvPicPr>
          <p:nvPr/>
        </p:nvPicPr>
        <p:blipFill>
          <a:blip r:embed="rId6"/>
          <a:stretch>
            <a:fillRect/>
          </a:stretch>
        </p:blipFill>
        <p:spPr>
          <a:xfrm>
            <a:off x="237205" y="160795"/>
            <a:ext cx="2012422" cy="70975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4"/>
          <p:cNvSpPr txBox="1">
            <a:spLocks noGrp="1"/>
          </p:cNvSpPr>
          <p:nvPr>
            <p:ph type="title"/>
          </p:nvPr>
        </p:nvSpPr>
        <p:spPr>
          <a:xfrm>
            <a:off x="0" y="1035757"/>
            <a:ext cx="6858000" cy="417686"/>
          </a:xfrm>
          <a:prstGeom prst="rect">
            <a:avLst/>
          </a:prstGeom>
          <a:noFill/>
          <a:ln>
            <a:noFill/>
          </a:ln>
        </p:spPr>
        <p:txBody>
          <a:bodyPr spcFirstLastPara="1" wrap="square" lIns="91425" tIns="45700" rIns="91425" bIns="45700" anchor="ctr" anchorCtr="0">
            <a:normAutofit fontScale="90000"/>
          </a:bodyPr>
          <a:lstStyle/>
          <a:p>
            <a:pPr marL="0" lvl="0" indent="0" algn="ctr" rtl="1">
              <a:lnSpc>
                <a:spcPct val="90000"/>
              </a:lnSpc>
              <a:spcBef>
                <a:spcPts val="0"/>
              </a:spcBef>
              <a:spcAft>
                <a:spcPts val="0"/>
              </a:spcAft>
              <a:buClr>
                <a:schemeClr val="dk1"/>
              </a:buClr>
              <a:buSzPct val="100000"/>
              <a:buFont typeface="Aharoni"/>
              <a:buNone/>
            </a:pPr>
            <a:r>
              <a:rPr lang="iw-IL" sz="2400" b="1" u="sng">
                <a:latin typeface="Aharoni"/>
                <a:ea typeface="Aharoni"/>
                <a:cs typeface="Aharoni"/>
                <a:sym typeface="Aharoni"/>
              </a:rPr>
              <a:t>תמצית הדרכת בטיחות והוראות בטיחות לעבוד באתר בניה </a:t>
            </a:r>
            <a:endParaRPr/>
          </a:p>
        </p:txBody>
      </p:sp>
      <p:sp>
        <p:nvSpPr>
          <p:cNvPr id="154" name="Google Shape;154;p4"/>
          <p:cNvSpPr txBox="1">
            <a:spLocks noGrp="1"/>
          </p:cNvSpPr>
          <p:nvPr>
            <p:ph type="body" idx="1"/>
          </p:nvPr>
        </p:nvSpPr>
        <p:spPr>
          <a:xfrm>
            <a:off x="10643" y="1480879"/>
            <a:ext cx="6836710" cy="559948"/>
          </a:xfrm>
          <a:prstGeom prst="rect">
            <a:avLst/>
          </a:prstGeom>
          <a:noFill/>
          <a:ln>
            <a:noFill/>
          </a:ln>
        </p:spPr>
        <p:txBody>
          <a:bodyPr spcFirstLastPara="1" wrap="square" lIns="91425" tIns="45700" rIns="91425" bIns="45700" anchor="t" anchorCtr="0">
            <a:normAutofit/>
          </a:bodyPr>
          <a:lstStyle/>
          <a:p>
            <a:pPr marL="0" lvl="0" indent="0" algn="r" rtl="1">
              <a:lnSpc>
                <a:spcPct val="90000"/>
              </a:lnSpc>
              <a:spcBef>
                <a:spcPts val="0"/>
              </a:spcBef>
              <a:spcAft>
                <a:spcPts val="0"/>
              </a:spcAft>
              <a:buClr>
                <a:schemeClr val="dk1"/>
              </a:buClr>
              <a:buSzPts val="2800"/>
              <a:buNone/>
            </a:pPr>
            <a:r>
              <a:rPr lang="iw-IL" sz="2800" b="1" u="sng">
                <a:latin typeface="Aharoni"/>
                <a:ea typeface="Aharoni"/>
                <a:cs typeface="Aharoni"/>
                <a:sym typeface="Aharoni"/>
              </a:rPr>
              <a:t>חומרים מסוכנים</a:t>
            </a:r>
            <a:endParaRPr/>
          </a:p>
        </p:txBody>
      </p:sp>
      <p:graphicFrame>
        <p:nvGraphicFramePr>
          <p:cNvPr id="155" name="Google Shape;155;p4"/>
          <p:cNvGraphicFramePr/>
          <p:nvPr/>
        </p:nvGraphicFramePr>
        <p:xfrm>
          <a:off x="165200" y="2743171"/>
          <a:ext cx="6571475" cy="1608646"/>
        </p:xfrm>
        <a:graphic>
          <a:graphicData uri="http://schemas.openxmlformats.org/drawingml/2006/table">
            <a:tbl>
              <a:tblPr firstRow="1" firstCol="1" bandRow="1">
                <a:noFill/>
                <a:tableStyleId>{FB6D6766-C3E4-4BB9-BE31-83216EC31A9B}</a:tableStyleId>
              </a:tblPr>
              <a:tblGrid>
                <a:gridCol w="1690500">
                  <a:extLst>
                    <a:ext uri="{9D8B030D-6E8A-4147-A177-3AD203B41FA5}">
                      <a16:colId xmlns:a16="http://schemas.microsoft.com/office/drawing/2014/main" val="20000"/>
                    </a:ext>
                  </a:extLst>
                </a:gridCol>
                <a:gridCol w="1932000">
                  <a:extLst>
                    <a:ext uri="{9D8B030D-6E8A-4147-A177-3AD203B41FA5}">
                      <a16:colId xmlns:a16="http://schemas.microsoft.com/office/drawing/2014/main" val="20001"/>
                    </a:ext>
                  </a:extLst>
                </a:gridCol>
                <a:gridCol w="2948975">
                  <a:extLst>
                    <a:ext uri="{9D8B030D-6E8A-4147-A177-3AD203B41FA5}">
                      <a16:colId xmlns:a16="http://schemas.microsoft.com/office/drawing/2014/main" val="20002"/>
                    </a:ext>
                  </a:extLst>
                </a:gridCol>
              </a:tblGrid>
              <a:tr h="14817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השפעה שלילית</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כשל\תרחיש שלילי</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סילוק\מיזעור הסיכון\דרכי מנע</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6405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חנק\סחרחורות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כוויות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שריפות\התפוצצות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0" u="none" strike="noStrike" cap="none">
                          <a:solidFill>
                            <a:schemeClr val="dk1"/>
                          </a:solidFill>
                          <a:latin typeface="Aharoni"/>
                          <a:ea typeface="Aharoni"/>
                          <a:cs typeface="Aharoni"/>
                          <a:sym typeface="Aharoni"/>
                        </a:rPr>
                        <a:t>מחלות מקצוע</a:t>
                      </a:r>
                      <a:endParaRPr sz="1100" b="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latin typeface="Aharoni"/>
                          <a:ea typeface="Aharoni"/>
                          <a:cs typeface="Aharoni"/>
                          <a:sym typeface="Aharoni"/>
                        </a:rPr>
                        <a:t>שימוש בחומרים מזיקים לבריאות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ציוד מגן אישי לא מתאים לסכנה\לא תקין</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עבודה במקום לא מאוורר</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שימוש בחומרים כימיים לאחר קבלת תדריך בטיחות בהתאם לגיליון הבטיחות של החומר</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עבודה עם ציוד מגן אישי ע"פ גיליון הבטיחות של החומר</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לאוורר את מקום העבודה ולהרחיק אש מחומרים דליקים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השמד אריזות / מכלים ריקים לאחר שימוש ולא להשאיר בשטח</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56" name="Google Shape;156;p4"/>
          <p:cNvSpPr txBox="1"/>
          <p:nvPr/>
        </p:nvSpPr>
        <p:spPr>
          <a:xfrm>
            <a:off x="54296" y="2145538"/>
            <a:ext cx="1276264" cy="640587"/>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rgbClr val="FF0000"/>
              </a:buClr>
              <a:buSzPts val="1300"/>
              <a:buFont typeface="Arial"/>
              <a:buNone/>
            </a:pPr>
            <a:r>
              <a:rPr lang="iw-IL" sz="1300" b="1" i="0" u="none" strike="noStrike" cap="none">
                <a:solidFill>
                  <a:srgbClr val="FF0000"/>
                </a:solidFill>
                <a:latin typeface="Aharoni"/>
                <a:ea typeface="Aharoni"/>
                <a:cs typeface="Aharoni"/>
                <a:sym typeface="Aharoni"/>
              </a:rPr>
              <a:t>סכנה!</a:t>
            </a:r>
            <a:endParaRPr/>
          </a:p>
          <a:p>
            <a:pPr marL="0" marR="0" lvl="0" indent="0" algn="ctr" rtl="1">
              <a:lnSpc>
                <a:spcPct val="90000"/>
              </a:lnSpc>
              <a:spcBef>
                <a:spcPts val="750"/>
              </a:spcBef>
              <a:spcAft>
                <a:spcPts val="0"/>
              </a:spcAft>
              <a:buClr>
                <a:schemeClr val="dk1"/>
              </a:buClr>
              <a:buSzPts val="1300"/>
              <a:buFont typeface="Arial"/>
              <a:buNone/>
            </a:pPr>
            <a:r>
              <a:rPr lang="iw-IL" sz="1300" b="1" i="0" u="none" strike="noStrike" cap="none">
                <a:solidFill>
                  <a:schemeClr val="dk1"/>
                </a:solidFill>
                <a:latin typeface="Aharoni"/>
                <a:ea typeface="Aharoni"/>
                <a:cs typeface="Aharoni"/>
                <a:sym typeface="Aharoni"/>
              </a:rPr>
              <a:t>חומרים מסוכנים</a:t>
            </a:r>
            <a:endParaRPr/>
          </a:p>
        </p:txBody>
      </p:sp>
      <p:cxnSp>
        <p:nvCxnSpPr>
          <p:cNvPr id="157" name="Google Shape;157;p4"/>
          <p:cNvCxnSpPr/>
          <p:nvPr/>
        </p:nvCxnSpPr>
        <p:spPr>
          <a:xfrm>
            <a:off x="10643" y="4612212"/>
            <a:ext cx="6858000" cy="0"/>
          </a:xfrm>
          <a:prstGeom prst="straightConnector1">
            <a:avLst/>
          </a:prstGeom>
          <a:noFill/>
          <a:ln w="38100" cap="flat" cmpd="sng">
            <a:solidFill>
              <a:schemeClr val="dk1"/>
            </a:solidFill>
            <a:prstDash val="solid"/>
            <a:miter lim="800000"/>
            <a:headEnd type="none" w="sm" len="sm"/>
            <a:tailEnd type="none" w="sm" len="sm"/>
          </a:ln>
        </p:spPr>
      </p:cxnSp>
      <p:sp>
        <p:nvSpPr>
          <p:cNvPr id="158" name="Google Shape;158;p4"/>
          <p:cNvSpPr txBox="1"/>
          <p:nvPr/>
        </p:nvSpPr>
        <p:spPr>
          <a:xfrm>
            <a:off x="165200" y="5612625"/>
            <a:ext cx="2892325" cy="413857"/>
          </a:xfrm>
          <a:prstGeom prst="rect">
            <a:avLst/>
          </a:prstGeom>
          <a:noFill/>
          <a:ln>
            <a:noFill/>
          </a:ln>
        </p:spPr>
        <p:txBody>
          <a:bodyPr spcFirstLastPara="1" wrap="square" lIns="91425" tIns="45700" rIns="91425" bIns="45700" anchor="t" anchorCtr="0">
            <a:normAutofit/>
          </a:bodyPr>
          <a:lstStyle/>
          <a:p>
            <a:pPr marL="0" marR="0" lvl="0" indent="0" algn="ctr" rtl="1">
              <a:lnSpc>
                <a:spcPct val="90000"/>
              </a:lnSpc>
              <a:spcBef>
                <a:spcPts val="0"/>
              </a:spcBef>
              <a:spcAft>
                <a:spcPts val="0"/>
              </a:spcAft>
              <a:buClr>
                <a:schemeClr val="dk1"/>
              </a:buClr>
              <a:buSzPts val="1300"/>
              <a:buFont typeface="Arial"/>
              <a:buNone/>
            </a:pPr>
            <a:r>
              <a:rPr lang="iw-IL" sz="1300" b="1" i="0" u="none" strike="noStrike" cap="none">
                <a:solidFill>
                  <a:schemeClr val="dk1"/>
                </a:solidFill>
                <a:latin typeface="Aharoni"/>
                <a:ea typeface="Aharoni"/>
                <a:cs typeface="Aharoni"/>
                <a:sym typeface="Aharoni"/>
              </a:rPr>
              <a:t>הרמה נכונה מונעת סבל רב מאוד</a:t>
            </a:r>
            <a:endParaRPr/>
          </a:p>
        </p:txBody>
      </p:sp>
      <p:sp>
        <p:nvSpPr>
          <p:cNvPr id="159" name="Google Shape;159;p4"/>
          <p:cNvSpPr txBox="1"/>
          <p:nvPr/>
        </p:nvSpPr>
        <p:spPr>
          <a:xfrm>
            <a:off x="10644" y="4735279"/>
            <a:ext cx="6858000" cy="630284"/>
          </a:xfrm>
          <a:prstGeom prst="rect">
            <a:avLst/>
          </a:prstGeom>
          <a:noFill/>
          <a:ln>
            <a:noFill/>
          </a:ln>
        </p:spPr>
        <p:txBody>
          <a:bodyPr spcFirstLastPara="1" wrap="square" lIns="91425" tIns="45700" rIns="91425" bIns="45700" anchor="t" anchorCtr="0">
            <a:normAutofit/>
          </a:bodyPr>
          <a:lstStyle/>
          <a:p>
            <a:pPr marL="0" marR="0" lvl="0" indent="0" algn="r" rtl="1">
              <a:lnSpc>
                <a:spcPct val="90000"/>
              </a:lnSpc>
              <a:spcBef>
                <a:spcPts val="0"/>
              </a:spcBef>
              <a:spcAft>
                <a:spcPts val="0"/>
              </a:spcAft>
              <a:buClr>
                <a:schemeClr val="dk1"/>
              </a:buClr>
              <a:buSzPts val="2800"/>
              <a:buFont typeface="Arial"/>
              <a:buNone/>
            </a:pPr>
            <a:r>
              <a:rPr lang="iw-IL" sz="2800" b="1" i="0" u="sng" strike="noStrike" cap="none">
                <a:solidFill>
                  <a:schemeClr val="dk1"/>
                </a:solidFill>
                <a:latin typeface="Aharoni"/>
                <a:ea typeface="Aharoni"/>
                <a:cs typeface="Aharoni"/>
                <a:sym typeface="Aharoni"/>
              </a:rPr>
              <a:t>הנחיות בטיחות כלליות</a:t>
            </a:r>
            <a:endParaRPr/>
          </a:p>
        </p:txBody>
      </p:sp>
      <p:graphicFrame>
        <p:nvGraphicFramePr>
          <p:cNvPr id="160" name="Google Shape;160;p4"/>
          <p:cNvGraphicFramePr/>
          <p:nvPr/>
        </p:nvGraphicFramePr>
        <p:xfrm>
          <a:off x="165200" y="6153998"/>
          <a:ext cx="6571450" cy="2505584"/>
        </p:xfrm>
        <a:graphic>
          <a:graphicData uri="http://schemas.openxmlformats.org/drawingml/2006/table">
            <a:tbl>
              <a:tblPr firstRow="1" firstCol="1" bandRow="1">
                <a:noFill/>
                <a:tableStyleId>{FB6D6766-C3E4-4BB9-BE31-83216EC31A9B}</a:tableStyleId>
              </a:tblPr>
              <a:tblGrid>
                <a:gridCol w="3270850">
                  <a:extLst>
                    <a:ext uri="{9D8B030D-6E8A-4147-A177-3AD203B41FA5}">
                      <a16:colId xmlns:a16="http://schemas.microsoft.com/office/drawing/2014/main" val="20000"/>
                    </a:ext>
                  </a:extLst>
                </a:gridCol>
                <a:gridCol w="3300600">
                  <a:extLst>
                    <a:ext uri="{9D8B030D-6E8A-4147-A177-3AD203B41FA5}">
                      <a16:colId xmlns:a16="http://schemas.microsoft.com/office/drawing/2014/main" val="20001"/>
                    </a:ext>
                  </a:extLst>
                </a:gridCol>
              </a:tblGrid>
              <a:tr h="147625">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עשה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1">
                        <a:lnSpc>
                          <a:spcPct val="107000"/>
                        </a:lnSpc>
                        <a:spcBef>
                          <a:spcPts val="0"/>
                        </a:spcBef>
                        <a:spcAft>
                          <a:spcPts val="0"/>
                        </a:spcAft>
                        <a:buNone/>
                      </a:pPr>
                      <a:r>
                        <a:rPr lang="iw-IL" sz="1100" u="none" strike="noStrike" cap="none">
                          <a:latin typeface="Aharoni"/>
                          <a:ea typeface="Aharoni"/>
                          <a:cs typeface="Aharoni"/>
                          <a:sym typeface="Aharoni"/>
                        </a:rPr>
                        <a:t>אל תעשה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233600">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להיכנס לאתר דרך הכניסות הייעודים ולהיזהר מציוד הנדסי</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יש להתנהג ע"פ השילוט האזהרתי באתר</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הרמת ציוד חומרים צמוד לגוף ולא יותר מ 25 ק"ג</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תחילת הרמה בכיפוף ברכיים, היעזר בעובד נוסף</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כסה פתחים בורות למניעת נפילת עובדים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דווח על כל ליקוי סכנה מפגע/מקרה מסוכן/תאונה ל מנ"ע</a:t>
                      </a:r>
                      <a:endParaRPr sz="1100" u="none" strike="noStrike" cap="none">
                        <a:solidFill>
                          <a:schemeClr val="dk1"/>
                        </a:solidFill>
                        <a:latin typeface="Aharoni"/>
                        <a:ea typeface="Aharoni"/>
                        <a:cs typeface="Aharoni"/>
                        <a:sym typeface="Aharoni"/>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תתייעץ עם מנ"ע ממונה בטיחות בכל עבודה שלא ברורה לך</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שהות באתר כל עוד מנהל עבודה נמצא באתר</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בצע עבודה לא מעל או מתחת לעובדים אחרים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במידה וצריך עזרה ראשונה גש למנהל עבודה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u="none" strike="noStrike" cap="none">
                          <a:solidFill>
                            <a:schemeClr val="dk1"/>
                          </a:solidFill>
                          <a:latin typeface="Aharoni"/>
                          <a:ea typeface="Aharoni"/>
                          <a:cs typeface="Aharoni"/>
                          <a:sym typeface="Aharoni"/>
                        </a:rPr>
                        <a:t>לדאוג לתאורה מספקת לביצוע העבודה בצורה בטוחה</a:t>
                      </a:r>
                      <a:endParaRPr sz="1100"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תשתמש בטלפון תוך כדי הליכה או ביצוע משימה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תתקן/תפעיל ציוד שאינך בקיא בו</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תעשה פעולה במזיד אשר יכולה להציב לך נזק ולאחרים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תשתמש בציוד לא תקין או לא מתאים למשימה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תפרק מעקה/גידור ללא אישור ממנהל העבודה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תזרוק חומר/ציוד יש להוריד בצורה מבקרת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תקפוץ /תטפס מעל פיגום או סולם</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אסור להעמיס משקל מעבר למותר</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תעבוד במקום אשר יש בו סכנת נפילה ואין אמצעי למניעת נפילה</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תבצע עבודה אם לא ברורה לך מבחינה מקצועית ובטיחותית</a:t>
                      </a:r>
                      <a:endParaRPr/>
                    </a:p>
                    <a:p>
                      <a:pPr marL="342900" marR="0" lvl="0" indent="-342900" algn="r" rtl="1">
                        <a:lnSpc>
                          <a:spcPct val="107000"/>
                        </a:lnSpc>
                        <a:spcBef>
                          <a:spcPts val="0"/>
                        </a:spcBef>
                        <a:spcAft>
                          <a:spcPts val="0"/>
                        </a:spcAft>
                        <a:buClr>
                          <a:schemeClr val="dk1"/>
                        </a:buClr>
                        <a:buSzPts val="1100"/>
                        <a:buFont typeface="Noto Sans Symbols"/>
                        <a:buChar char="∙"/>
                      </a:pPr>
                      <a:r>
                        <a:rPr lang="iw-IL" sz="1100" b="1" u="none" strike="noStrike" cap="none">
                          <a:solidFill>
                            <a:schemeClr val="dk1"/>
                          </a:solidFill>
                          <a:latin typeface="Aharoni"/>
                          <a:ea typeface="Aharoni"/>
                          <a:cs typeface="Aharoni"/>
                          <a:sym typeface="Aharoni"/>
                        </a:rPr>
                        <a:t>אל תבצע עבודת יחיד</a:t>
                      </a:r>
                      <a:endParaRPr sz="1100" b="1" u="none" strike="noStrike" cap="none">
                        <a:solidFill>
                          <a:schemeClr val="dk1"/>
                        </a:solidFill>
                        <a:latin typeface="Aharoni"/>
                        <a:ea typeface="Aharoni"/>
                        <a:cs typeface="Aharoni"/>
                        <a:sym typeface="Aharoni"/>
                      </a:endParaRPr>
                    </a:p>
                  </a:txBody>
                  <a:tcPr marL="65225" marR="65225"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61" name="Google Shape;161;p4"/>
          <p:cNvPicPr preferRelativeResize="0"/>
          <p:nvPr/>
        </p:nvPicPr>
        <p:blipFill rotWithShape="1">
          <a:blip r:embed="rId3">
            <a:alphaModFix/>
          </a:blip>
          <a:srcRect/>
          <a:stretch/>
        </p:blipFill>
        <p:spPr>
          <a:xfrm>
            <a:off x="273270" y="1488277"/>
            <a:ext cx="838317" cy="733527"/>
          </a:xfrm>
          <a:prstGeom prst="rect">
            <a:avLst/>
          </a:prstGeom>
          <a:noFill/>
          <a:ln>
            <a:noFill/>
          </a:ln>
        </p:spPr>
      </p:pic>
      <p:pic>
        <p:nvPicPr>
          <p:cNvPr id="162" name="Google Shape;162;p4"/>
          <p:cNvPicPr preferRelativeResize="0"/>
          <p:nvPr/>
        </p:nvPicPr>
        <p:blipFill rotWithShape="1">
          <a:blip r:embed="rId4">
            <a:alphaModFix/>
          </a:blip>
          <a:srcRect/>
          <a:stretch/>
        </p:blipFill>
        <p:spPr>
          <a:xfrm>
            <a:off x="101439" y="4762037"/>
            <a:ext cx="3019846" cy="809738"/>
          </a:xfrm>
          <a:prstGeom prst="rect">
            <a:avLst/>
          </a:prstGeom>
          <a:noFill/>
          <a:ln>
            <a:noFill/>
          </a:ln>
        </p:spPr>
      </p:pic>
      <p:sp>
        <p:nvSpPr>
          <p:cNvPr id="163" name="Google Shape;163;p4"/>
          <p:cNvSpPr txBox="1">
            <a:spLocks noGrp="1"/>
          </p:cNvSpPr>
          <p:nvPr>
            <p:ph type="ftr" idx="11"/>
          </p:nvPr>
        </p:nvSpPr>
        <p:spPr>
          <a:xfrm>
            <a:off x="2271713" y="11300181"/>
            <a:ext cx="2314575" cy="64911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iw-IL"/>
              <a:t>הוראות בטיחות לעובד</a:t>
            </a:r>
            <a:endParaRPr/>
          </a:p>
        </p:txBody>
      </p:sp>
      <p:sp>
        <p:nvSpPr>
          <p:cNvPr id="164" name="Google Shape;164;p4"/>
          <p:cNvSpPr txBox="1">
            <a:spLocks noGrp="1"/>
          </p:cNvSpPr>
          <p:nvPr>
            <p:ph type="sldNum" idx="12"/>
          </p:nvPr>
        </p:nvSpPr>
        <p:spPr>
          <a:xfrm>
            <a:off x="4843463" y="11300181"/>
            <a:ext cx="1543050" cy="64911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iw-IL"/>
              <a:t>4</a:t>
            </a:fld>
            <a:endParaRPr/>
          </a:p>
        </p:txBody>
      </p:sp>
      <p:pic>
        <p:nvPicPr>
          <p:cNvPr id="3" name="תמונה 2">
            <a:extLst>
              <a:ext uri="{FF2B5EF4-FFF2-40B4-BE49-F238E27FC236}">
                <a16:creationId xmlns:a16="http://schemas.microsoft.com/office/drawing/2014/main" id="{9251956D-1B13-56D6-3036-C8E3D71947B0}"/>
              </a:ext>
            </a:extLst>
          </p:cNvPr>
          <p:cNvPicPr>
            <a:picLocks noChangeAspect="1"/>
          </p:cNvPicPr>
          <p:nvPr/>
        </p:nvPicPr>
        <p:blipFill>
          <a:blip r:embed="rId5"/>
          <a:stretch>
            <a:fillRect/>
          </a:stretch>
        </p:blipFill>
        <p:spPr>
          <a:xfrm>
            <a:off x="237205" y="160795"/>
            <a:ext cx="2012422" cy="709757"/>
          </a:xfrm>
          <a:prstGeom prst="rect">
            <a:avLst/>
          </a:prstGeom>
        </p:spPr>
      </p:pic>
    </p:spTree>
  </p:cSld>
  <p:clrMapOvr>
    <a:masterClrMapping/>
  </p:clrMapOvr>
</p:sld>
</file>

<file path=ppt/theme/theme1.xml><?xml version="1.0" encoding="utf-8"?>
<a:theme xmlns:a="http://schemas.openxmlformats.org/drawingml/2006/main" name="ערכת נושא Office">
  <a:themeElements>
    <a:clrScheme name="ערכת נושא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1229</Words>
  <Application>Microsoft Office PowerPoint</Application>
  <PresentationFormat>מסך רחב</PresentationFormat>
  <Paragraphs>181</Paragraphs>
  <Slides>4</Slides>
  <Notes>4</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4</vt:i4>
      </vt:variant>
    </vt:vector>
  </HeadingPairs>
  <TitlesOfParts>
    <vt:vector size="9" baseType="lpstr">
      <vt:lpstr>Aharoni</vt:lpstr>
      <vt:lpstr>Arial</vt:lpstr>
      <vt:lpstr>Calibri</vt:lpstr>
      <vt:lpstr>Noto Sans Symbols</vt:lpstr>
      <vt:lpstr>ערכת נושא Office</vt:lpstr>
      <vt:lpstr>תמצית הדרכת בטיחות והוראות בטיחות לעבוד באתר בניה</vt:lpstr>
      <vt:lpstr>תמצית הדרכת בטיחות והוראות בטיחות לעבוד באתר בניה </vt:lpstr>
      <vt:lpstr>תמצית הדרכת בטיחות והוראות בטיחות לעבוד באתר בניה </vt:lpstr>
      <vt:lpstr>תמצית הדרכת בטיחות והוראות בטיחות לעבוד באתר בניה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Mark Bazanov</dc:creator>
  <cp:lastModifiedBy>איתי ולדמן</cp:lastModifiedBy>
  <cp:revision>1</cp:revision>
  <dcterms:created xsi:type="dcterms:W3CDTF">2025-10-16T08:20:51Z</dcterms:created>
  <dcterms:modified xsi:type="dcterms:W3CDTF">2026-08-22T17:50:36Z</dcterms:modified>
</cp:coreProperties>
</file>