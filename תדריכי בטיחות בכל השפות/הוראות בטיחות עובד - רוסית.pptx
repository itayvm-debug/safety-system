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7559675" cy="106918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5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jIUnS+wlFf1+KoS2H+GKVSKqGy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41214A-C800-4D40-BCBC-FAFEA4329FB4}">
  <a:tblStyle styleId="{7141214A-C800-4D40-BCBC-FAFEA4329F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FF4E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F4E6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186" y="66"/>
      </p:cViewPr>
      <p:guideLst>
        <p:guide orient="horz" pos="3368"/>
        <p:guide pos="23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קופית כותרת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567000" y="1749826"/>
            <a:ext cx="64260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945000" y="5615776"/>
            <a:ext cx="5670000" cy="25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515813" y="2665578"/>
            <a:ext cx="6520500" cy="44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515813" y="7155228"/>
            <a:ext cx="6520500" cy="2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38272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520735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520735" y="2621026"/>
            <a:ext cx="31983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520735" y="3905550"/>
            <a:ext cx="31983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3827251" y="2621026"/>
            <a:ext cx="32139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3827251" y="3905550"/>
            <a:ext cx="32139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88051" y="2977950"/>
            <a:ext cx="6783900" cy="6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1694701" y="4284600"/>
            <a:ext cx="9060900" cy="16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-1612724" y="2701800"/>
            <a:ext cx="9060900" cy="47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23" y="-1"/>
            <a:ext cx="869802" cy="7004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body" idx="1"/>
          </p:nvPr>
        </p:nvSpPr>
        <p:spPr>
          <a:xfrm>
            <a:off x="3556626" y="1429726"/>
            <a:ext cx="4003373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1800" b="1" u="sng"/>
              <a:t>Индивидуальные средства защиты</a:t>
            </a:r>
            <a:endParaRPr sz="1600" b="1" u="sng"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167243" y="2719503"/>
          <a:ext cx="7244150" cy="321500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Физиологические травмы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конечностей и глаз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Вред здоровью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Неиспользование средств индивидуальной защиты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Непроверка средств индивидуальной защиты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 использование средств индивидуальной защиты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• Каждый сотрудник будет экипирован стандартной рабочей обувью, защитной каской и светоотражающим жилетом.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Кроме того, сотрудник будет использовать дополнительные средства индивидуальной защиты в соответствии с видом выполняемой работы, а также в соответствии с Законом о средствах индивидуальной защиты и инструкциями производителя.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 любым вопросам, касающимся средств индивидуальной защиты, необходимо обращаться в Министерство обороны.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Если средства индивидуальной защиты находятся в неисправном состоянии — необходимо немедленно заменить их.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Моя подпись под настоящим документом подтверждает мою обязанность использовать средства индивидуальной защиты и действовать в соответствии с полученными инструкциями.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r="74905"/>
          <a:stretch/>
        </p:blipFill>
        <p:spPr>
          <a:xfrm>
            <a:off x="223818" y="1346631"/>
            <a:ext cx="959266" cy="70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l="36083" r="33518"/>
          <a:stretch/>
        </p:blipFill>
        <p:spPr>
          <a:xfrm>
            <a:off x="1329904" y="1346631"/>
            <a:ext cx="1162000" cy="70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l="75636"/>
          <a:stretch/>
        </p:blipFill>
        <p:spPr>
          <a:xfrm>
            <a:off x="2558632" y="1346631"/>
            <a:ext cx="931267" cy="70176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67903" y="2056468"/>
            <a:ext cx="11619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ru-RU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Очки обязательны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ru-RU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Обязательно ношение защитного шлема.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415797" y="205646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ru-RU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Защитная обувь обязательна.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"/>
          <p:cNvCxnSpPr/>
          <p:nvPr/>
        </p:nvCxnSpPr>
        <p:spPr>
          <a:xfrm>
            <a:off x="0" y="6364724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243" y="6420623"/>
            <a:ext cx="846189" cy="68154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053351" y="6365961"/>
            <a:ext cx="13302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Внимание Трактор в движении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558632" y="6676782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Механическое инженерное оборудование</a:t>
            </a:r>
            <a:endParaRPr sz="105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1"/>
          <p:cNvGraphicFramePr/>
          <p:nvPr/>
        </p:nvGraphicFramePr>
        <p:xfrm>
          <a:off x="157763" y="7167864"/>
          <a:ext cx="7244150" cy="3240532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Наезд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Телесные травмы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Скольжение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Обломки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Эксплуатация неуполномоченным/неопытным персоналом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рабочих при переходе с одного рабочего места на другое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рабочих с инженерного 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Опрокидывание инженерного механического 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28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50" u="none" strike="noStrike" cap="none"/>
                        <a:t>• Эксплуатация инженерной техники должна осуществляться только лицензированным и опытным персоналом.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Инженерная техника должна быть оснащена звуковым сигналом заднего хода, фарами, светящимися полосами и сигнальной шашкой.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Во время движения или работы будьте бдительны и соблюдайте безопасную дистанцию.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Приближайтесь к инженерной технике только при наличии зрительного контакта с оператором.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Будьте особенно осторожны при движении техники задним ходом, а также при наличии сопровождающего.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Максимальная скорость передвижения — 10 км/ч.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Посадка и высадка из транспортного средства разрешены только в специально отведённых местах</a:t>
                      </a:r>
                      <a:r>
                        <a:rPr lang="ru-RU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" name="Google Shape;98;p1"/>
          <p:cNvSpPr txBox="1"/>
          <p:nvPr/>
        </p:nvSpPr>
        <p:spPr>
          <a:xfrm>
            <a:off x="9318" y="617311"/>
            <a:ext cx="7560000" cy="65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</a:pPr>
            <a:r>
              <a:rPr lang="ru-RU" sz="1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Краткий обзор инструктажа и правил техники безопасности при работе на строительной площадке</a:t>
            </a:r>
            <a:endParaRPr sz="20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-157913" y="1334536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400" u="sng">
                <a:latin typeface="Aharoni"/>
                <a:ea typeface="Aharoni"/>
                <a:cs typeface="Aharoni"/>
                <a:sym typeface="Aharoni"/>
              </a:rPr>
              <a:t>на </a:t>
            </a:r>
            <a:r>
              <a:rPr lang="ru-RU" sz="2000" u="sng">
                <a:latin typeface="Aharoni"/>
                <a:ea typeface="Aharoni"/>
                <a:cs typeface="Aharoni"/>
                <a:sym typeface="Aharoni"/>
              </a:rPr>
              <a:t>Работа высоте</a:t>
            </a:r>
            <a:endParaRPr/>
          </a:p>
        </p:txBody>
      </p:sp>
      <p:graphicFrame>
        <p:nvGraphicFramePr>
          <p:cNvPr id="104" name="Google Shape;104;p2"/>
          <p:cNvGraphicFramePr/>
          <p:nvPr/>
        </p:nvGraphicFramePr>
        <p:xfrm>
          <a:off x="157937" y="2694550"/>
          <a:ext cx="7244150" cy="6582156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с высоты и строительных лесов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с рабочего оборудования на высоте, такого как платформы и лестницы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 на высоте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Сотрудник, не имеющий квалификации или навыков для выполнения работ на высоте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Неправильное/неправильное/несоответствующее рабочее оборудование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Отсутствие стандартного и безопасного ограждения для предотвращения падений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Неисправность точки крепления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• </a:t>
                      </a:r>
                      <a:r>
                        <a:rPr lang="ru-RU" sz="1050" b="1" u="none" strike="noStrike" cap="none"/>
                        <a:t>Определение</a:t>
                      </a:r>
                      <a:r>
                        <a:rPr lang="ru-RU" sz="1050" u="none" strike="noStrike" cap="none"/>
                        <a:t>: работа на высоте с риском падения на глубину до 2 метров.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Отсутствие стандартных ограждений, вынос тела за пределы ограждения, высота подъёмной корзины рабочего оборудования.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Использование механизированных подъёмных корзин и строительных лесов.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Средства индивидуальной защиты (СИЗ) и вспомогательные средства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Проверяются перед использованием.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Работайте в соответствии с правилами работы на высоте и инструкциями производителя.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Сообщайте о любых дефектах или неполадках.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Лестницы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Допускается подъём на высоту не более одного метра от верхнего края.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Ходьба по лестнице запрещена.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предназначена для длительной работы.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Строительные платформы и корзины лесов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 допускается только с разрешения бригадира.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Строительные леса и рабочие поверхности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Запрещено разбирать элементы конструкции.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Минимальная ширина рабочей поверхности — 60 см.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Подъём и спуск — только по лестницам.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Запрещено устанавливать лестницу на строительные леса.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Общие положения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Работы выполняются только при соответствующих погодных условиях и уровне освещения.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Точка крепления должна выдерживать не менее 1,5 тонны.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 на высоте осуществляется минимум двумя сотрудниками.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Обязательное использование: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Защитной каски с подбородочным ремнём,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Страховочной привязи,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Системы защиты от падения / страховки.</a:t>
                      </a:r>
                      <a:endParaRPr/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5" name="Google Shape;105;p2"/>
          <p:cNvSpPr txBox="1"/>
          <p:nvPr/>
        </p:nvSpPr>
        <p:spPr>
          <a:xfrm>
            <a:off x="-40912" y="1742144"/>
            <a:ext cx="1512000" cy="45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Повреждённая лестница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Использование запрещено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334998" y="186034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Arial"/>
              <a:buNone/>
            </a:pPr>
            <a:r>
              <a:rPr lang="ru-RU" sz="147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Остерегайтесь падения.</a:t>
            </a:r>
            <a:endParaRPr sz="9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r="60080"/>
          <a:stretch/>
        </p:blipFill>
        <p:spPr>
          <a:xfrm>
            <a:off x="286947" y="1260863"/>
            <a:ext cx="892907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l="53635"/>
          <a:stretch/>
        </p:blipFill>
        <p:spPr>
          <a:xfrm>
            <a:off x="1459788" y="1222272"/>
            <a:ext cx="1037110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23" y="0"/>
            <a:ext cx="850752" cy="70196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9318" y="617311"/>
            <a:ext cx="7560000" cy="65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</a:pPr>
            <a:r>
              <a:rPr lang="ru-RU" sz="1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Краткий обзор инструктажа и правил техники безопасности при работе на строительной площадке</a:t>
            </a:r>
            <a:endParaRPr sz="20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340179" y="687382"/>
            <a:ext cx="7560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Электричество и подвижное электрооборудование</a:t>
            </a:r>
            <a:endParaRPr sz="11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3"/>
          <p:cNvGraphicFramePr/>
          <p:nvPr/>
        </p:nvGraphicFramePr>
        <p:xfrm>
          <a:off x="157762" y="2210725"/>
          <a:ext cx="7244150" cy="577532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Ожоги\Травмы глаз\Вспышка дуги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неисправного или неподходящего электрооборудования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Ремонт неуполномоченными лицами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Повреждение кабелей и электропроводки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 от напряжения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удлинителя во влажной среде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Электрооборудование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только по назначению и в соответствии с инструкциями производителя.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Осмотр оборудования должен проводиться сертифицированным электриком перед началом эксплуатации.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 случае неисправности работы должны быть немедленно прекращены, а бригадир уведомлён.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демонтировать электрические щитки и защитные ограждения.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Ремонт должен выполняться только уполномоченными лицами.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использовать оборудование во влажной среде.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Сотрудник должен иметь опыт эксплуатации оборудования.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Кабели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кабели с двойной изоляцией.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прокладывать кабели на полу и во влажной среде.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промышленные розетки и вилки.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Прокладывать кабели через кабель-канал.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Подключать кабель только после полного развёртывания.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Отключать кабель перед началом его складывания.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Электромонтажные работы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Проводить работы только при отключённом питании.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Работы выполнять под наблюдением сертифицированного электрика.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Отключать и блокировать источники питания.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работать во влажной среде, при недостаточном освещении и в опасных погодных условиях.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Соблюдать дистанцию не менее 5 метров от воздушных линий электропередач.</a:t>
                      </a:r>
                      <a:endParaRPr/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4748712" y="1668488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rPr lang="ru-RU" sz="12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Опасность!</a:t>
            </a:r>
            <a:endParaRPr sz="12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r="54901"/>
          <a:stretch/>
        </p:blipFill>
        <p:spPr>
          <a:xfrm>
            <a:off x="4805037" y="1051237"/>
            <a:ext cx="966150" cy="66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l="59313"/>
          <a:stretch/>
        </p:blipFill>
        <p:spPr>
          <a:xfrm>
            <a:off x="5978338" y="1051236"/>
            <a:ext cx="871649" cy="6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5771187" y="1688333"/>
            <a:ext cx="1454905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Защита обязательна!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23" y="0"/>
            <a:ext cx="850752" cy="701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body" idx="1"/>
          </p:nvPr>
        </p:nvSpPr>
        <p:spPr>
          <a:xfrm>
            <a:off x="-15350" y="1161999"/>
            <a:ext cx="75483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800" b="1" u="sng">
                <a:latin typeface="Aharoni"/>
                <a:ea typeface="Aharoni"/>
                <a:cs typeface="Aharoni"/>
                <a:sym typeface="Aharoni"/>
              </a:rPr>
              <a:t>Раскопки</a:t>
            </a:r>
            <a:endParaRPr/>
          </a:p>
        </p:txBody>
      </p:sp>
      <p:graphicFrame>
        <p:nvGraphicFramePr>
          <p:cNvPr id="127" name="Google Shape;127;p4"/>
          <p:cNvGraphicFramePr/>
          <p:nvPr/>
        </p:nvGraphicFramePr>
        <p:xfrm>
          <a:off x="169669" y="2359874"/>
          <a:ext cx="7244150" cy="478218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Обрушение котлована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Удары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рабочих при раскопках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Обрушение котлована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Повреждение инфраструктуры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Опрокидывание строительной техники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Удары гусеничных тракторов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50" u="none" strike="noStrike" cap="none"/>
                        <a:t>• Земляные работы проводятся только с разрешения бригадира и после осмотра инфраструктуры и наличия животных в зоне проведения работ.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При работе вблизи объектов инфраструктуры необходимо использовать только ручной инструмент и соблюдать все меры предосторожности.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Подъём и спуск осуществляются только в обозначенных местах.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Обязательное наличие защитного ограждения и предупреждающих знаков.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Выемка грунта должна выполняться с учётом естественного уклона и необходимости обратной засыпки.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Следует принимать меры для предотвращения обрушения стенок котлована.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Ширина котлована должна обеспечивать безопасное проведение работ.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Проходы над котлованом должны быть не уже 60 см.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Инженерное оборудование должно располагаться на безопасном расстоянии от зоны работ.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Рабочим запрещено находиться вблизи работающего инженерного оборудования.</a:t>
                      </a: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" name="Google Shape;128;p4"/>
          <p:cNvSpPr txBox="1"/>
          <p:nvPr/>
        </p:nvSpPr>
        <p:spPr>
          <a:xfrm>
            <a:off x="6059286" y="1548486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Открытый канал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3618" y="890927"/>
            <a:ext cx="935182" cy="762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23" y="-1"/>
            <a:ext cx="1005420" cy="108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5"/>
          <p:cNvGraphicFramePr/>
          <p:nvPr/>
        </p:nvGraphicFramePr>
        <p:xfrm>
          <a:off x="157762" y="1856548"/>
          <a:ext cx="7244150" cy="3701796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тела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конечностей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Сдавленные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головы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Неисправность подъемного оборудования/аксессуаров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рабочих от поднимаемых грузов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частей груза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Подъёмное оборудование и приспособления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Должны быть проверены квалифицированным инспектором перед использованием.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Управление оборудованием осуществляется только лицензированными и опытными операторами.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Подъёмные работы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Допускаются только с разрешения бригадира.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Зона подъёма должна быть ограждена.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Обязательна правильная обвязка груза и руководство со стороны сигнальщика (лопатчика).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Запрещено находиться под поднятым грузом.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поднимайте груз выше одного метра от уровня пола без необходимости.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Предотвращение падения деталей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Подъём осуществлять только с использованием специальных приспособлений.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Все грузы должны быть обвязаны и надёжно зафиксированы.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Работайте осторожно, соблюдая вертикальное положение груза во время подъёма</a:t>
                      </a:r>
                      <a:r>
                        <a:rPr lang="ru-RU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" name="Google Shape;136;p5"/>
          <p:cNvSpPr txBox="1"/>
          <p:nvPr/>
        </p:nvSpPr>
        <p:spPr>
          <a:xfrm>
            <a:off x="4579076" y="1367972"/>
            <a:ext cx="2519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Опасно! Не стойте под поднятым грузом.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35470" y="1309122"/>
            <a:ext cx="4007838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Подъемные Работы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4883293" y="766648"/>
            <a:ext cx="955633" cy="65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 l="54398"/>
          <a:stretch/>
        </p:blipFill>
        <p:spPr>
          <a:xfrm>
            <a:off x="5838926" y="777063"/>
            <a:ext cx="871537" cy="6599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5"/>
          <p:cNvGraphicFramePr/>
          <p:nvPr/>
        </p:nvGraphicFramePr>
        <p:xfrm>
          <a:off x="161772" y="6202052"/>
          <a:ext cx="7244150" cy="433514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67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глаз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Пожар/пожар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Взрывы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 использование средств индивидуальной защиты, отказ 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Взрыв газового баллона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Пожары, связанные с работниками/оборудованием/окружающей средой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ru-RU" sz="1050" u="none" strike="noStrike" cap="none"/>
                        <a:t>Проводятся только после утверждения бригадиром.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Необходимо обеспечить защиту и безопасность объектов инфраструктуры.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соответствующие средства индивидуальной защиты (СИЗ).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Обеспечить наличие пожарной охраны на участке во время проведения работ и после их завершения.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Соблюдать дистанцию не менее 10 метров от легковоспламеняющихся и горючих материалов.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На месте работ должны находиться подходящие средства пожаротушения.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 зоне проведения огневых работ не должно быть электрических кабелей.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Работы с газовыми баллонами осуществляют только квалифицированные специалисты.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Баллоны должны транспортироваться безопасным способом.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Устанавливать баллоны следует строго в вертикальном положении (перпендикулярно полу).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защитные чехлы.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Хранение масел допускается только вдали от источников тепла.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Трубопроводы должны быть проложены правильно и оснащены стандартными, надлежащими и действующими средствами безопасности.</a:t>
                      </a:r>
                      <a:r>
                        <a:rPr lang="ru-RU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b="1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1" name="Google Shape;141;p5"/>
          <p:cNvSpPr txBox="1"/>
          <p:nvPr/>
        </p:nvSpPr>
        <p:spPr>
          <a:xfrm>
            <a:off x="103477" y="5759392"/>
            <a:ext cx="3622075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Горячие Вакансии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-54448" y="5630572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5"/>
          <p:cNvSpPr txBox="1"/>
          <p:nvPr/>
        </p:nvSpPr>
        <p:spPr>
          <a:xfrm>
            <a:off x="3492636" y="5804079"/>
            <a:ext cx="3093189" cy="37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Запрещено разведение огня, применение открытого пламени и курение на территории объекта</a:t>
            </a:r>
            <a:endParaRPr sz="800" b="1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3008" y="5687799"/>
            <a:ext cx="627775" cy="47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23" y="-1"/>
            <a:ext cx="1005420" cy="108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>
            <a:spLocks noGrp="1"/>
          </p:cNvSpPr>
          <p:nvPr>
            <p:ph type="body" idx="1"/>
          </p:nvPr>
        </p:nvSpPr>
        <p:spPr>
          <a:xfrm>
            <a:off x="111823" y="159683"/>
            <a:ext cx="7536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 u="sng" dirty="0">
                <a:latin typeface="Aharoni"/>
                <a:ea typeface="Aharoni"/>
                <a:cs typeface="Aharoni"/>
                <a:sym typeface="Aharoni"/>
              </a:rPr>
              <a:t>Опасные Материалы</a:t>
            </a:r>
            <a:endParaRPr dirty="0"/>
          </a:p>
        </p:txBody>
      </p:sp>
      <p:graphicFrame>
        <p:nvGraphicFramePr>
          <p:cNvPr id="151" name="Google Shape;151;p6"/>
          <p:cNvGraphicFramePr/>
          <p:nvPr>
            <p:extLst>
              <p:ext uri="{D42A27DB-BD31-4B8C-83A1-F6EECF244321}">
                <p14:modId xmlns:p14="http://schemas.microsoft.com/office/powerpoint/2010/main" val="2168061962"/>
              </p:ext>
            </p:extLst>
          </p:nvPr>
        </p:nvGraphicFramePr>
        <p:xfrm>
          <a:off x="111823" y="801161"/>
          <a:ext cx="7244150" cy="1788922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Удушье/Головокружение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Пожары/Взрывы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Профессиональные заболевания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веществ, вредных для здоровья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Средства индивидуальной защиты, не соответствующие опасности/неправильные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Работа в непроветриваемых помещениях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u="none" strike="noStrike" cap="none" dirty="0"/>
                        <a:t>• Используйте химические материалы только после прохождения инструктажа по технике безопасности и в соответствии с паспортом безопасности материала.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Работайте с использованием средств индивидуальной защиты, предусмотренных паспортом безопасности материала.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Обеспечьте проветривание рабочего места.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подносите огонь и источники открытого пламени близко к легковоспламеняющимся материалам.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После использования уничтожайте пустую упаковку и контейнеры.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оставляйте пустую тару на рабочем месте.</a:t>
                      </a:r>
                      <a:r>
                        <a:rPr lang="ru-RU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2" name="Google Shape;152;p6"/>
          <p:cNvSpPr txBox="1"/>
          <p:nvPr/>
        </p:nvSpPr>
        <p:spPr>
          <a:xfrm>
            <a:off x="5024962" y="113832"/>
            <a:ext cx="1949495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 dirty="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Опасно!</a:t>
            </a:r>
            <a:endParaRPr sz="1300" b="1" i="0" u="none" strike="noStrike" cap="none" dirty="0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 dirty="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Опасные материалы</a:t>
            </a:r>
            <a:endParaRPr sz="1300" b="1" i="0" u="none" strike="noStrike" cap="none" dirty="0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24160" y="2703067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p6"/>
          <p:cNvSpPr txBox="1"/>
          <p:nvPr/>
        </p:nvSpPr>
        <p:spPr>
          <a:xfrm>
            <a:off x="3956869" y="3231261"/>
            <a:ext cx="3785241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Правильная техника подъёма тяжестей помогает избежать многих травм и неприятностей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82110" y="2723619"/>
            <a:ext cx="75600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sng" strike="noStrike" cap="none" dirty="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правила безопасности Общие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6"/>
          <p:cNvGraphicFramePr/>
          <p:nvPr>
            <p:extLst>
              <p:ext uri="{D42A27DB-BD31-4B8C-83A1-F6EECF244321}">
                <p14:modId xmlns:p14="http://schemas.microsoft.com/office/powerpoint/2010/main" val="136199312"/>
              </p:ext>
            </p:extLst>
          </p:nvPr>
        </p:nvGraphicFramePr>
        <p:xfrm>
          <a:off x="133465" y="3568133"/>
          <a:ext cx="7244100" cy="3075242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360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Делать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/>
                        <a:t>• Входите на объект только через обозначенные входы и будьте внимательны к инженерному оборудованию.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Соблюдайте правила поведения на объекте.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Подъем оборудования и материалов должен выполняться близко к телу и не превышать 25 кг.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Начинайте подъем, согнув колени, и по возможности привлекайте дополнительного работника для помощи.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Закрывайте проемы и ямы, чтобы предотвратить падение работников.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Сообщайте о любых дефектах, опасностях и несчастных случаях в отдел охраны труда и техники безопасности.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При возникновении непонятных вопросов консультируйтесь с руководителем по технике безопасности отдела охраны труда и техники безопасности.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Оставайтесь на объекте, пока присутствует бригадир.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Не выполняйте работы выше или ниже других рабочих.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При необходимости оказания первой помощи обращайтесь к бригадиру.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Обеспечьте достаточное освещение для безопасного выполнения работ.</a:t>
                      </a: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 dirty="0"/>
                        <a:t>• Не пользуйтесь телефоном во время ходьбы или выполнения работы.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ремонтируйте и не эксплуатируйте оборудование, с которым вы не знакомы.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совершайте намеренно действий, которые могут причинить вред вам или другим лицам.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используйте оборудование, которое неисправно или не подходит для выполнения работы.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разбирайте перила или ограждения без разрешения бригадира.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бросайте материалы или оборудование — опускайте их вниз контролируемым образом.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прыгайте и не перелезайте через строительные леса или лестницы.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поднимайте грузы, превышающие допустимую массу.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работайте в местах с риском падения без средств предотвращения падения.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выполняйте работу, если она вам не ясна с точки зрения профессиональной и личной безопасности.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выполняйте работу в одиночку.</a:t>
                      </a:r>
                      <a:r>
                        <a:rPr lang="ru-RU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643" y="113832"/>
            <a:ext cx="689357" cy="642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6571" y="2727380"/>
            <a:ext cx="2069402" cy="5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506" y="9414226"/>
            <a:ext cx="831702" cy="95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1827</Words>
  <Application>Microsoft Office PowerPoint</Application>
  <PresentationFormat>מותאם אישית</PresentationFormat>
  <Paragraphs>136</Paragraphs>
  <Slides>6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Aharoni</vt:lpstr>
      <vt:lpstr>Arial</vt:lpstr>
      <vt:lpstr>Calibri</vt:lpstr>
      <vt:lpstr>Noto Sans Symbols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Bazanov</dc:creator>
  <cp:lastModifiedBy>איתי ולדמן</cp:lastModifiedBy>
  <cp:revision>2</cp:revision>
  <dcterms:modified xsi:type="dcterms:W3CDTF">2026-04-10T10:14:02Z</dcterms:modified>
</cp:coreProperties>
</file>