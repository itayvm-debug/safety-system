
<file path=[Content_Types].xml><?xml version="1.0" encoding="utf-8"?>
<Types xmlns="http://schemas.openxmlformats.org/package/2006/content-types">
  <Default ContentType="image/jpeg" Extension="jpg"/>
  <Default ContentType="application/xml" Extension="xml"/>
  <Default ContentType="image/png" Extension="png"/>
  <Default ContentType="application/vnd.openxmlformats-package.relationships+xml" Extension="rels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5.xml"/>
  <Override ContentType="application/vnd.openxmlformats-officedocument.presentationml.notesMaster+xml" PartName="/ppt/notesMasters/notesMaster1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strictFirstAndLastChars="0" saveSubsetFonts="1">
  <p:sldMasterIdLst>
    <p:sldMasterId id="2147483648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</p:sldIdLst>
  <p:sldSz cy="10691800" cx="7559675"/>
  <p:notesSz cx="6858000" cy="9144000"/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3368">
          <p15:clr>
            <a:srgbClr val="747775"/>
          </p15:clr>
        </p15:guide>
        <p15:guide id="2" pos="2381">
          <p15:clr>
            <a:srgbClr val="747775"/>
          </p15:clr>
        </p15:guide>
      </p15:sldGuideLst>
    </p:ext>
    <p:ext uri="GoogleSlidesCustomDataVersion2">
      <go:slidesCustomData xmlns:go="http://customooxmlschemas.google.com/" r:id="rId12" roundtripDataSignature="AMtx7mi5I/20IBLe7Cv6DfiuOXOV/xUTCQ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8D7BFAB6-880C-4DBA-8417-BE7CAEC0AE5A}">
  <a:tblStyle styleId="{8D7BFAB6-880C-4DBA-8417-BE7CAEC0AE5A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left>
          <a:right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right>
          <a:top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  <a:bottom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bottom>
          <a:insideH>
            <a:ln cap="flat" cmpd="sng" w="127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insideH>
          <a:insideV>
            <a:ln cap="flat" cmpd="sng" w="9525">
              <a:solidFill>
                <a:srgbClr val="000000">
                  <a:alpha val="0"/>
                </a:srgbClr>
              </a:solidFill>
              <a:prstDash val="solid"/>
              <a:round/>
              <a:headEnd len="sm" w="sm" type="none"/>
              <a:tailEnd len="sm" w="sm" type="none"/>
            </a:ln>
          </a:insideV>
        </a:tcBdr>
        <a:fill>
          <a:solidFill>
            <a:schemeClr val="lt1"/>
          </a:solidFill>
        </a:fill>
      </a:tcStyle>
    </a:wholeTbl>
    <a:band1H>
      <a:tcTxStyle b="off" i="off"/>
      <a:tcStyle>
        <a:fill>
          <a:solidFill>
            <a:srgbClr val="FFF4E6"/>
          </a:solidFill>
        </a:fill>
      </a:tcStyle>
    </a:band1H>
    <a:band2H>
      <a:tcTxStyle b="off" i="off"/>
    </a:band2H>
    <a:band1V>
      <a:tcTxStyle b="off" i="off"/>
      <a:tcStyle>
        <a:fill>
          <a:solidFill>
            <a:srgbClr val="FFF4E6"/>
          </a:solidFill>
        </a:fill>
      </a:tcStyle>
    </a:band1V>
    <a:band2V>
      <a:tcTxStyle b="off" i="off"/>
    </a:band2V>
    <a:lastCol>
      <a:tcTxStyle b="on" i="off"/>
    </a:lastCol>
    <a:firstCol>
      <a:tcTxStyle b="on" i="off"/>
    </a:firstCol>
    <a:lastRow>
      <a:tcTxStyle b="on" i="off"/>
      <a:tcStyle>
        <a:tcBdr>
          <a:top>
            <a:ln cap="flat" cmpd="sng" w="50800">
              <a:solidFill>
                <a:schemeClr val="accent4"/>
              </a:solidFill>
              <a:prstDash val="solid"/>
              <a:round/>
              <a:headEnd len="sm" w="sm" type="none"/>
              <a:tailEnd len="sm" w="sm" type="none"/>
            </a:ln>
          </a:top>
        </a:tcBdr>
        <a:fill>
          <a:solidFill>
            <a:schemeClr val="lt1"/>
          </a:solidFill>
        </a:fill>
      </a:tcStyle>
    </a:lastRow>
    <a:seCell>
      <a:tcTxStyle b="off" i="off"/>
    </a:seCell>
    <a:swCell>
      <a:tcTxStyle b="off" i="off"/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fill>
          <a:solidFill>
            <a:schemeClr val="accent4"/>
          </a:solidFill>
        </a:fill>
      </a:tcStyle>
    </a:firstRow>
    <a:neCell>
      <a:tcTxStyle b="off" i="off"/>
    </a:neCell>
    <a:nwCell>
      <a:tcTxStyle b="off" i="off"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3368" orient="horz"/>
        <p:guide pos="2381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11" Type="http://schemas.openxmlformats.org/officeDocument/2006/relationships/slide" Target="slides/slide5.xml"/><Relationship Id="rId10" Type="http://schemas.openxmlformats.org/officeDocument/2006/relationships/slide" Target="slides/slide4.xml"/><Relationship Id="rId12" Type="http://customschemas.google.com/relationships/presentationmetadata" Target="metadata"/><Relationship Id="rId9" Type="http://schemas.openxmlformats.org/officeDocument/2006/relationships/slide" Target="slides/slide3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2338388" y="1143000"/>
            <a:ext cx="2181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9" name="Shape 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0" name="Google Shape;100;p2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1" name="Google Shape;101;p2:notes"/>
          <p:cNvSpPr/>
          <p:nvPr>
            <p:ph idx="2" type="sldImg"/>
          </p:nvPr>
        </p:nvSpPr>
        <p:spPr>
          <a:xfrm>
            <a:off x="2338388" y="1143000"/>
            <a:ext cx="2181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2" name="Shape 1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3" name="Google Shape;113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14" name="Google Shape;114;p3:notes"/>
          <p:cNvSpPr/>
          <p:nvPr>
            <p:ph idx="2" type="sldImg"/>
          </p:nvPr>
        </p:nvSpPr>
        <p:spPr>
          <a:xfrm>
            <a:off x="2217050" y="685800"/>
            <a:ext cx="24246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9" name="Shape 1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0" name="Google Shape;130;p4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1" name="Google Shape;131;p4:notes"/>
          <p:cNvSpPr/>
          <p:nvPr>
            <p:ph idx="2" type="sldImg"/>
          </p:nvPr>
        </p:nvSpPr>
        <p:spPr>
          <a:xfrm>
            <a:off x="2338388" y="1143000"/>
            <a:ext cx="2181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5:notes"/>
          <p:cNvSpPr txBox="1"/>
          <p:nvPr>
            <p:ph idx="1" type="body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46" name="Google Shape;146;p5:notes"/>
          <p:cNvSpPr/>
          <p:nvPr>
            <p:ph idx="2" type="sldImg"/>
          </p:nvPr>
        </p:nvSpPr>
        <p:spPr>
          <a:xfrm>
            <a:off x="2338388" y="1143000"/>
            <a:ext cx="2181225" cy="30861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תוכן" type="obj">
  <p:cSld name="OBJECT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8"/>
          <p:cNvSpPr txBox="1"/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8"/>
          <p:cNvSpPr txBox="1"/>
          <p:nvPr>
            <p:ph idx="1" type="body"/>
          </p:nvPr>
        </p:nvSpPr>
        <p:spPr>
          <a:xfrm>
            <a:off x="519751" y="2846250"/>
            <a:ext cx="6520500" cy="6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14" name="Google Shape;14;p8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5" name="Google Shape;15;p8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6" name="Google Shape;16;p8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קופית כותרת" type="title">
  <p:cSld name="TITLE">
    <p:spTree>
      <p:nvGrpSpPr>
        <p:cNvPr id="17" name="Shape 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Google Shape;18;p9"/>
          <p:cNvSpPr txBox="1"/>
          <p:nvPr>
            <p:ph type="ctrTitle"/>
          </p:nvPr>
        </p:nvSpPr>
        <p:spPr>
          <a:xfrm>
            <a:off x="567000" y="1749826"/>
            <a:ext cx="6426000" cy="37224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9"/>
          <p:cNvSpPr txBox="1"/>
          <p:nvPr>
            <p:ph idx="1" type="subTitle"/>
          </p:nvPr>
        </p:nvSpPr>
        <p:spPr>
          <a:xfrm>
            <a:off x="945000" y="5615776"/>
            <a:ext cx="5670000" cy="2581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rt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/>
            </a:lvl1pPr>
            <a:lvl2pPr lvl="1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sz="1500"/>
            </a:lvl2pPr>
            <a:lvl3pPr lvl="2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sz="1350"/>
            </a:lvl3pPr>
            <a:lvl4pPr lvl="3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4pPr>
            <a:lvl5pPr lvl="4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5pPr>
            <a:lvl6pPr lvl="5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6pPr>
            <a:lvl7pPr lvl="6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7pPr>
            <a:lvl8pPr lvl="7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8pPr>
            <a:lvl9pPr lvl="8" rtl="1" algn="ct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9pPr>
          </a:lstStyle>
          <a:p/>
        </p:txBody>
      </p:sp>
      <p:sp>
        <p:nvSpPr>
          <p:cNvPr id="20" name="Google Shape;20;p9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1" name="Google Shape;21;p9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2" name="Google Shape;22;p9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מקטע עליונה" type="secHead">
  <p:cSld name="SECTION_HEADER">
    <p:spTree>
      <p:nvGrpSpPr>
        <p:cNvPr id="23" name="Shape 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" name="Google Shape;24;p10"/>
          <p:cNvSpPr txBox="1"/>
          <p:nvPr>
            <p:ph type="title"/>
          </p:nvPr>
        </p:nvSpPr>
        <p:spPr>
          <a:xfrm>
            <a:off x="515813" y="2665578"/>
            <a:ext cx="6520500" cy="44475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500"/>
              <a:buFont typeface="Calibri"/>
              <a:buNone/>
              <a:defRPr sz="45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10"/>
          <p:cNvSpPr txBox="1"/>
          <p:nvPr>
            <p:ph idx="1" type="body"/>
          </p:nvPr>
        </p:nvSpPr>
        <p:spPr>
          <a:xfrm>
            <a:off x="515813" y="7155228"/>
            <a:ext cx="6520500" cy="233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sz="1800">
                <a:solidFill>
                  <a:schemeClr val="dk1"/>
                </a:solidFill>
              </a:defRPr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500"/>
              <a:buNone/>
              <a:defRPr sz="1500">
                <a:solidFill>
                  <a:srgbClr val="888888"/>
                </a:solidFill>
              </a:defRPr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350"/>
              <a:buNone/>
              <a:defRPr sz="1350">
                <a:solidFill>
                  <a:srgbClr val="888888"/>
                </a:solidFill>
              </a:defRPr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rgbClr val="888888"/>
              </a:buClr>
              <a:buSzPts val="1200"/>
              <a:buNone/>
              <a:defRPr sz="12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26" name="Google Shape;26;p10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7" name="Google Shape;27;p10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8" name="Google Shape;28;p10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שני תכנים" type="twoObj">
  <p:cSld name="TWO_OBJECTS">
    <p:spTree>
      <p:nvGrpSpPr>
        <p:cNvPr id="29" name="Shape 2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" name="Google Shape;30;p11"/>
          <p:cNvSpPr txBox="1"/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1"/>
          <p:cNvSpPr txBox="1"/>
          <p:nvPr>
            <p:ph idx="1" type="body"/>
          </p:nvPr>
        </p:nvSpPr>
        <p:spPr>
          <a:xfrm>
            <a:off x="519751" y="2846250"/>
            <a:ext cx="3213000" cy="6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2" name="Google Shape;32;p11"/>
          <p:cNvSpPr txBox="1"/>
          <p:nvPr>
            <p:ph idx="2" type="body"/>
          </p:nvPr>
        </p:nvSpPr>
        <p:spPr>
          <a:xfrm>
            <a:off x="3827251" y="2846250"/>
            <a:ext cx="3213000" cy="6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33" name="Google Shape;33;p11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4" name="Google Shape;34;p11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11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השוואה" type="twoTxTwoObj">
  <p:cSld name="TWO_OBJECTS_WITH_TEXT"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" name="Google Shape;37;p12"/>
          <p:cNvSpPr txBox="1"/>
          <p:nvPr>
            <p:ph type="title"/>
          </p:nvPr>
        </p:nvSpPr>
        <p:spPr>
          <a:xfrm>
            <a:off x="520735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12"/>
          <p:cNvSpPr txBox="1"/>
          <p:nvPr>
            <p:ph idx="1" type="body"/>
          </p:nvPr>
        </p:nvSpPr>
        <p:spPr>
          <a:xfrm>
            <a:off x="520735" y="2621026"/>
            <a:ext cx="31983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39" name="Google Shape;39;p12"/>
          <p:cNvSpPr txBox="1"/>
          <p:nvPr>
            <p:ph idx="2" type="body"/>
          </p:nvPr>
        </p:nvSpPr>
        <p:spPr>
          <a:xfrm>
            <a:off x="520735" y="3905550"/>
            <a:ext cx="3198300" cy="57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0" name="Google Shape;40;p12"/>
          <p:cNvSpPr txBox="1"/>
          <p:nvPr>
            <p:ph idx="3" type="body"/>
          </p:nvPr>
        </p:nvSpPr>
        <p:spPr>
          <a:xfrm>
            <a:off x="3827251" y="2621026"/>
            <a:ext cx="3213900" cy="12846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None/>
              <a:defRPr b="1" sz="1500"/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None/>
              <a:defRPr b="1" sz="1350"/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b="1" sz="1200"/>
            </a:lvl9pPr>
          </a:lstStyle>
          <a:p/>
        </p:txBody>
      </p:sp>
      <p:sp>
        <p:nvSpPr>
          <p:cNvPr id="41" name="Google Shape;41;p12"/>
          <p:cNvSpPr txBox="1"/>
          <p:nvPr>
            <p:ph idx="4" type="body"/>
          </p:nvPr>
        </p:nvSpPr>
        <p:spPr>
          <a:xfrm>
            <a:off x="3827251" y="3905550"/>
            <a:ext cx="3213900" cy="5744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42" name="Google Shape;42;p12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3" name="Google Shape;43;p12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4" name="Google Shape;44;p12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בלבד" type="titleOnly">
  <p:cSld name="TITLE_ONLY"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3"/>
          <p:cNvSpPr txBox="1"/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13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13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9" name="Google Shape;49;p13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ריק" type="blank">
  <p:cSld name="BLANK">
    <p:spTree>
      <p:nvGrpSpPr>
        <p:cNvPr id="50" name="Shape 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1" name="Google Shape;51;p14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14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14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וכן עם כיתוב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15"/>
          <p:cNvSpPr txBox="1"/>
          <p:nvPr>
            <p:ph type="title"/>
          </p:nvPr>
        </p:nvSpPr>
        <p:spPr>
          <a:xfrm>
            <a:off x="520735" y="712800"/>
            <a:ext cx="2438400" cy="24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15"/>
          <p:cNvSpPr txBox="1"/>
          <p:nvPr>
            <p:ph idx="1" type="body"/>
          </p:nvPr>
        </p:nvSpPr>
        <p:spPr>
          <a:xfrm>
            <a:off x="3213984" y="1539452"/>
            <a:ext cx="3827400" cy="7598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6195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2100"/>
              <a:buChar char="•"/>
              <a:defRPr sz="2100"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2385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4pPr>
            <a:lvl5pPr indent="-32385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5pPr>
            <a:lvl6pPr indent="-32385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6pPr>
            <a:lvl7pPr indent="-32385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7pPr>
            <a:lvl8pPr indent="-32385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8pPr>
            <a:lvl9pPr indent="-32385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Char char="•"/>
              <a:defRPr sz="1500"/>
            </a:lvl9pPr>
          </a:lstStyle>
          <a:p/>
        </p:txBody>
      </p:sp>
      <p:sp>
        <p:nvSpPr>
          <p:cNvPr id="57" name="Google Shape;57;p15"/>
          <p:cNvSpPr txBox="1"/>
          <p:nvPr>
            <p:ph idx="2" type="body"/>
          </p:nvPr>
        </p:nvSpPr>
        <p:spPr>
          <a:xfrm>
            <a:off x="520735" y="3207600"/>
            <a:ext cx="2438400" cy="59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58" name="Google Shape;58;p15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15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15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תמונה עם כיתוב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6"/>
          <p:cNvSpPr txBox="1"/>
          <p:nvPr>
            <p:ph type="title"/>
          </p:nvPr>
        </p:nvSpPr>
        <p:spPr>
          <a:xfrm>
            <a:off x="520735" y="712800"/>
            <a:ext cx="2438400" cy="249480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Calibri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6"/>
          <p:cNvSpPr/>
          <p:nvPr>
            <p:ph idx="2" type="pic"/>
          </p:nvPr>
        </p:nvSpPr>
        <p:spPr>
          <a:xfrm>
            <a:off x="3213984" y="1539452"/>
            <a:ext cx="3827400" cy="75981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6"/>
          <p:cNvSpPr txBox="1"/>
          <p:nvPr>
            <p:ph idx="1" type="body"/>
          </p:nvPr>
        </p:nvSpPr>
        <p:spPr>
          <a:xfrm>
            <a:off x="520735" y="3207600"/>
            <a:ext cx="2438400" cy="5942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1pPr>
            <a:lvl2pPr indent="-2286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050"/>
              <a:buNone/>
              <a:defRPr sz="1050"/>
            </a:lvl2pPr>
            <a:lvl3pPr indent="-2286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3pPr>
            <a:lvl4pPr indent="-2286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4pPr>
            <a:lvl5pPr indent="-2286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5pPr>
            <a:lvl6pPr indent="-2286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6pPr>
            <a:lvl7pPr indent="-2286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7pPr>
            <a:lvl8pPr indent="-2286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8pPr>
            <a:lvl9pPr indent="-2286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750"/>
              <a:buNone/>
              <a:defRPr sz="750"/>
            </a:lvl9pPr>
          </a:lstStyle>
          <a:p/>
        </p:txBody>
      </p:sp>
      <p:sp>
        <p:nvSpPr>
          <p:cNvPr id="65" name="Google Shape;65;p16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6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6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וטקסט אנכי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7"/>
          <p:cNvSpPr txBox="1"/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7"/>
          <p:cNvSpPr txBox="1"/>
          <p:nvPr>
            <p:ph idx="1" type="body"/>
          </p:nvPr>
        </p:nvSpPr>
        <p:spPr>
          <a:xfrm rot="5400000">
            <a:off x="388051" y="2977950"/>
            <a:ext cx="6783900" cy="6520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7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7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7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כותרת אנכית וטקסט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8"/>
          <p:cNvSpPr txBox="1"/>
          <p:nvPr>
            <p:ph type="title"/>
          </p:nvPr>
        </p:nvSpPr>
        <p:spPr>
          <a:xfrm rot="5400000">
            <a:off x="1694701" y="4284600"/>
            <a:ext cx="9060900" cy="16302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8"/>
          <p:cNvSpPr txBox="1"/>
          <p:nvPr>
            <p:ph idx="1" type="body"/>
          </p:nvPr>
        </p:nvSpPr>
        <p:spPr>
          <a:xfrm rot="5400000">
            <a:off x="-1612724" y="2701800"/>
            <a:ext cx="9060900" cy="4795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2pPr>
            <a:lvl3pPr indent="-342900" lvl="2" marL="1371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4pPr>
            <a:lvl5pPr indent="-342900" lvl="4" marL="22860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5pPr>
            <a:lvl6pPr indent="-342900" lvl="5" marL="27432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8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8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8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7"/>
          <p:cNvSpPr txBox="1"/>
          <p:nvPr>
            <p:ph type="title"/>
          </p:nvPr>
        </p:nvSpPr>
        <p:spPr>
          <a:xfrm>
            <a:off x="519751" y="569253"/>
            <a:ext cx="6520500" cy="20667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1" algn="l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3300"/>
              <a:buFont typeface="Calibri"/>
              <a:buNone/>
              <a:defRPr b="0" i="0" sz="33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7"/>
          <p:cNvSpPr txBox="1"/>
          <p:nvPr>
            <p:ph idx="1" type="body"/>
          </p:nvPr>
        </p:nvSpPr>
        <p:spPr>
          <a:xfrm>
            <a:off x="519751" y="2846250"/>
            <a:ext cx="6520500" cy="6783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61950" lvl="0" marL="457200" marR="0" rtl="1" algn="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2100"/>
              <a:buFont typeface="Arial"/>
              <a:buChar char="•"/>
              <a:defRPr b="0" i="0" sz="21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342900" lvl="1" marL="9144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800"/>
              <a:buFont typeface="Arial"/>
              <a:buChar char="•"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23850" lvl="2" marL="13716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500"/>
              <a:buFont typeface="Arial"/>
              <a:buChar char="•"/>
              <a:defRPr b="0" i="0" sz="15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14325" lvl="3" marL="18288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14325" lvl="4" marL="22860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14325" lvl="5" marL="27432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14325" lvl="6" marL="32004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14325" lvl="7" marL="36576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14325" lvl="8" marL="4114800" marR="0" rtl="1" algn="r">
              <a:lnSpc>
                <a:spcPct val="90000"/>
              </a:lnSpc>
              <a:spcBef>
                <a:spcPts val="375"/>
              </a:spcBef>
              <a:spcAft>
                <a:spcPts val="0"/>
              </a:spcAft>
              <a:buClr>
                <a:schemeClr val="dk1"/>
              </a:buClr>
              <a:buSzPts val="1350"/>
              <a:buFont typeface="Arial"/>
              <a:buChar char="•"/>
              <a:defRPr b="0" i="0" sz="135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7"/>
          <p:cNvSpPr txBox="1"/>
          <p:nvPr>
            <p:ph idx="10" type="dt"/>
          </p:nvPr>
        </p:nvSpPr>
        <p:spPr>
          <a:xfrm>
            <a:off x="5197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7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7"/>
          <p:cNvSpPr txBox="1"/>
          <p:nvPr>
            <p:ph idx="12" type="sldNum"/>
          </p:nvPr>
        </p:nvSpPr>
        <p:spPr>
          <a:xfrm>
            <a:off x="5339251" y="9909903"/>
            <a:ext cx="17010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900"/>
              <a:buFont typeface="Arial"/>
              <a:buNone/>
              <a:defRPr b="0" i="0" sz="9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iw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jpg"/><Relationship Id="rId4" Type="http://schemas.openxmlformats.org/officeDocument/2006/relationships/image" Target="../media/image1.png"/><Relationship Id="rId5" Type="http://schemas.openxmlformats.org/officeDocument/2006/relationships/image" Target="../media/image5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4.png"/><Relationship Id="rId4" Type="http://schemas.openxmlformats.org/officeDocument/2006/relationships/image" Target="../media/image2.jp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6.png"/><Relationship Id="rId4" Type="http://schemas.openxmlformats.org/officeDocument/2006/relationships/image" Target="../media/image2.jpg"/><Relationship Id="rId5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11.png"/><Relationship Id="rId5" Type="http://schemas.openxmlformats.org/officeDocument/2006/relationships/image" Target="../media/image2.jp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7.png"/><Relationship Id="rId4" Type="http://schemas.openxmlformats.org/officeDocument/2006/relationships/image" Target="../media/image10.png"/><Relationship Id="rId5" Type="http://schemas.openxmlformats.org/officeDocument/2006/relationships/image" Target="../media/image2.jp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4" name="Google Shape;84;p1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54123" y="0"/>
            <a:ext cx="949177" cy="878732"/>
          </a:xfrm>
          <a:prstGeom prst="rect">
            <a:avLst/>
          </a:prstGeom>
          <a:noFill/>
          <a:ln>
            <a:noFill/>
          </a:ln>
        </p:spPr>
      </p:pic>
      <p:sp>
        <p:nvSpPr>
          <p:cNvPr id="85" name="Google Shape;85;p1"/>
          <p:cNvSpPr txBox="1"/>
          <p:nvPr>
            <p:ph type="title"/>
          </p:nvPr>
        </p:nvSpPr>
        <p:spPr>
          <a:xfrm>
            <a:off x="0" y="908135"/>
            <a:ext cx="75600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haroni"/>
              <a:buNone/>
            </a:pPr>
            <a:r>
              <a:rPr b="1" lang="iw" sz="1800" u="sng">
                <a:latin typeface="Aharoni"/>
                <a:ea typeface="Aharoni"/>
                <a:cs typeface="Aharoni"/>
                <a:sym typeface="Aharoni"/>
              </a:rPr>
              <a:t>สรุปการฝึกอบรมด้านความปลอดภัยและคำแนะนำด้านความปลอดภัยในการทำงานในสถานที่ก่อสร้าง</a:t>
            </a:r>
            <a:endParaRPr sz="2400"/>
          </a:p>
        </p:txBody>
      </p:sp>
      <p:sp>
        <p:nvSpPr>
          <p:cNvPr id="86" name="Google Shape;86;p1"/>
          <p:cNvSpPr txBox="1"/>
          <p:nvPr>
            <p:ph idx="1" type="body"/>
          </p:nvPr>
        </p:nvSpPr>
        <p:spPr>
          <a:xfrm>
            <a:off x="-26839" y="1616604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" sz="2000" u="sng">
                <a:latin typeface="Aharoni"/>
                <a:ea typeface="Aharoni"/>
                <a:cs typeface="Aharoni"/>
                <a:sym typeface="Aharoni"/>
              </a:rPr>
              <a:t>อุปกรณ์ป้องกันส่วนบุคคล</a:t>
            </a:r>
            <a:endParaRPr sz="1800"/>
          </a:p>
        </p:txBody>
      </p:sp>
      <p:graphicFrame>
        <p:nvGraphicFramePr>
          <p:cNvPr id="87" name="Google Shape;87;p1"/>
          <p:cNvGraphicFramePr/>
          <p:nvPr/>
        </p:nvGraphicFramePr>
        <p:xfrm>
          <a:off x="157937" y="26945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{8D7BFAB6-880C-4DBA-8417-BE7CAEC0AE5A}</a:tableStyleId>
              </a:tblPr>
              <a:tblGrid>
                <a:gridCol w="1863550"/>
                <a:gridCol w="2129775"/>
                <a:gridCol w="3250825"/>
              </a:tblGrid>
              <a:tr h="1299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การบาดเจ็บทางสรีรวิทยา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การบาดเจ็บที่แขนขาและดวงตา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ความเสียหายต่อสุขภาพ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การไม่ใช้อุปกรณ์ป้องกันภัยส่วนบุคคล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การไม่ตรวจสอบอุปกรณ์ป้องกันภัยส่วนบุคคล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การใช้อุปกรณ์ป้องกันภัยส่วนบุคคลอย่างไม่เหมาะสม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พนักงานแต่ละคนจะได้รับรองเท้าทำงานมาตรฐาน หมวกนิรภัย และเสื้อสะท้อนแสง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นอกจากนี้ พนักงานจะต้องใช้อุปกรณ์ป้องกันภัยส่วนบุคคลเพิ่มเติมตามประเภทของงาน และเป็นไปตามคำแนะนำของผู้ผลิตตามกฎหมายว่าด้วยอุปกรณ์ป้องกันภัยส่วนบุคคล หากมีข้อสงสัยใดๆ เกี่ยวกับเรื่องนี้ โปรดติดต่อกระทรวงกลาโหม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หากอุปกรณ์อยู่ในสภาพไม่ดี ให้เปลี่ยนใหม่ทันที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ลงนามของฉันในเอกสารฉบับนี้ถือเป็นการแสดงเจตนาที่จะใช้อุปกรณ์ป้องกันภัยส่วนบุคคลและปฏิบัติตามคำแนะนำที่ฉันได้รับ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88" name="Google Shape;88;p1"/>
          <p:cNvPicPr preferRelativeResize="0"/>
          <p:nvPr/>
        </p:nvPicPr>
        <p:blipFill rotWithShape="1">
          <a:blip r:embed="rId4">
            <a:alphaModFix/>
          </a:blip>
          <a:srcRect b="0" l="0" r="74905" t="0"/>
          <a:stretch/>
        </p:blipFill>
        <p:spPr>
          <a:xfrm>
            <a:off x="300176" y="1423572"/>
            <a:ext cx="882908" cy="62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89" name="Google Shape;89;p1"/>
          <p:cNvPicPr preferRelativeResize="0"/>
          <p:nvPr/>
        </p:nvPicPr>
        <p:blipFill rotWithShape="1">
          <a:blip r:embed="rId4">
            <a:alphaModFix/>
          </a:blip>
          <a:srcRect b="0" l="36083" r="33518" t="0"/>
          <a:stretch/>
        </p:blipFill>
        <p:spPr>
          <a:xfrm>
            <a:off x="1422400" y="1423572"/>
            <a:ext cx="1069504" cy="624820"/>
          </a:xfrm>
          <a:prstGeom prst="rect">
            <a:avLst/>
          </a:prstGeom>
          <a:noFill/>
          <a:ln>
            <a:noFill/>
          </a:ln>
        </p:spPr>
      </p:pic>
      <p:pic>
        <p:nvPicPr>
          <p:cNvPr id="90" name="Google Shape;90;p1"/>
          <p:cNvPicPr preferRelativeResize="0"/>
          <p:nvPr/>
        </p:nvPicPr>
        <p:blipFill rotWithShape="1">
          <a:blip r:embed="rId4">
            <a:alphaModFix/>
          </a:blip>
          <a:srcRect b="0" l="75636" r="0" t="0"/>
          <a:stretch/>
        </p:blipFill>
        <p:spPr>
          <a:xfrm>
            <a:off x="2632761" y="1423572"/>
            <a:ext cx="857138" cy="624820"/>
          </a:xfrm>
          <a:prstGeom prst="rect">
            <a:avLst/>
          </a:prstGeom>
          <a:noFill/>
          <a:ln>
            <a:noFill/>
          </a:ln>
        </p:spPr>
      </p:pic>
      <p:sp>
        <p:nvSpPr>
          <p:cNvPr id="91" name="Google Shape;91;p1"/>
          <p:cNvSpPr txBox="1"/>
          <p:nvPr/>
        </p:nvSpPr>
        <p:spPr>
          <a:xfrm>
            <a:off x="167903" y="2056468"/>
            <a:ext cx="11619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b="1" i="0" lang="iw" sz="1155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แว่นตาเป็นสิ่งที่ต้องมี!</a:t>
            </a:r>
            <a:endParaRPr b="0" i="0" sz="7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2" name="Google Shape;92;p1"/>
          <p:cNvSpPr txBox="1"/>
          <p:nvPr/>
        </p:nvSpPr>
        <p:spPr>
          <a:xfrm>
            <a:off x="1329904" y="2048391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b="1" i="0" lang="iw" sz="1155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การสวมหมวกนิรภัยเป็นสิ่งจำเป็น</a:t>
            </a:r>
            <a:endParaRPr b="0" i="0" sz="7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3" name="Google Shape;93;p1"/>
          <p:cNvSpPr txBox="1"/>
          <p:nvPr/>
        </p:nvSpPr>
        <p:spPr>
          <a:xfrm>
            <a:off x="2415797" y="2056468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7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155"/>
              <a:buFont typeface="Arial"/>
              <a:buNone/>
            </a:pPr>
            <a:r>
              <a:rPr b="1" i="0" lang="iw" sz="1155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การสวมรองเท้าป้องกันเป็นสิ่งจำเป็น</a:t>
            </a:r>
            <a:endParaRPr b="0" i="0" sz="77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cxnSp>
        <p:nvCxnSpPr>
          <p:cNvPr id="94" name="Google Shape;94;p1"/>
          <p:cNvCxnSpPr/>
          <p:nvPr/>
        </p:nvCxnSpPr>
        <p:spPr>
          <a:xfrm>
            <a:off x="-175" y="6034402"/>
            <a:ext cx="75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pic>
        <p:nvPicPr>
          <p:cNvPr id="95" name="Google Shape;95;p1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242240" y="6574468"/>
            <a:ext cx="1013226" cy="860314"/>
          </a:xfrm>
          <a:prstGeom prst="rect">
            <a:avLst/>
          </a:prstGeom>
          <a:noFill/>
          <a:ln>
            <a:noFill/>
          </a:ln>
        </p:spPr>
      </p:pic>
      <p:sp>
        <p:nvSpPr>
          <p:cNvPr id="96" name="Google Shape;96;p1"/>
          <p:cNvSpPr txBox="1"/>
          <p:nvPr/>
        </p:nvSpPr>
        <p:spPr>
          <a:xfrm>
            <a:off x="1666547" y="6520114"/>
            <a:ext cx="13302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iw" sz="13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ข้อควรระวัง</a:t>
            </a:r>
            <a:endParaRPr b="1" i="0" sz="13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iw" sz="13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รถแทรกเตอร์กำลังเคลื่อนที่</a:t>
            </a:r>
            <a:endParaRPr b="1" i="0" sz="13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97" name="Google Shape;97;p1"/>
          <p:cNvSpPr txBox="1"/>
          <p:nvPr/>
        </p:nvSpPr>
        <p:spPr>
          <a:xfrm>
            <a:off x="-26839" y="6780190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iw" sz="2000" u="sng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อุปกรณ์เครื่องกลวิศวกรรม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98" name="Google Shape;98;p1"/>
          <p:cNvGraphicFramePr/>
          <p:nvPr/>
        </p:nvGraphicFramePr>
        <p:xfrm>
          <a:off x="157762" y="7500852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{8D7BFAB6-880C-4DBA-8417-BE7CAEC0AE5A}</a:tableStyleId>
              </a:tblPr>
              <a:tblGrid>
                <a:gridCol w="1863550"/>
                <a:gridCol w="2129775"/>
                <a:gridCol w="3250825"/>
              </a:tblGrid>
              <a:tr h="1299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รถชน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บาดเจ็บทางร่างกาย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ลื่นไถล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ชิ้นส่วนที่แตกหัก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การปฏิบัติงานโดยบุคลากรที่ไม่ได้รับอนุญาต/ขาดประสบการณ์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การบาดเจ็บของคนงานระหว่างการเปลี่ยนงาน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คนงานตกจากอุปกรณ์วิศวกรรม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การพลิกคว่ำของอุปกรณ์เครื่องกลวิศวกรรม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37598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ปฏิบัติงานอุปกรณ์เครื่องกลวิศวกรรมต้องดำเนินการโดยบุคลากรที่มีใบอนุญาตและประสบการณ์เท่านั้น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37598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อุปกรณ์เครื่องกลวิศวกรรมจะต้องมีแตรถอยหลัง ไฟหน้า แถบเรืองแสง และตัวตรวจสอบ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37598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ขณะเคลื่อนที่หรือทำงาน โปรดระมัดระวังและรักษาระยะห่างที่ปลอดภัย เข้าใกล้อุปกรณ์เครื่องกลวิศวกรรมโดยสบตากับผู้ปฏิบัติงาน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37598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ระวังอุปกรณ์เครื่องกลวิศวกรรมที่กำลังถอยหลัง ถอยหลังโดยมีเจ้าหน้าที่คุ้มกัน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37598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Arial"/>
                        <a:buChar char="•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ความเร็วสูงสุด 10 กม./ชม. ขึ้น/ลงจากรถจากจุดที่กำหนด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37598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r>
                        <a:t/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2" name="Shape 1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3" name="Google Shape;103;p2"/>
          <p:cNvSpPr txBox="1"/>
          <p:nvPr>
            <p:ph type="title"/>
          </p:nvPr>
        </p:nvSpPr>
        <p:spPr>
          <a:xfrm>
            <a:off x="0" y="908326"/>
            <a:ext cx="75600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980"/>
              <a:buFont typeface="Aharoni"/>
              <a:buNone/>
            </a:pPr>
            <a:r>
              <a:rPr b="1" lang="iw" sz="1979" u="sng">
                <a:latin typeface="Aharoni"/>
                <a:ea typeface="Aharoni"/>
                <a:cs typeface="Aharoni"/>
                <a:sym typeface="Aharoni"/>
              </a:rPr>
              <a:t>สรุปการฝึกอบรมด้านความปลอดภัยและคำแนะนำด้านความปลอดภัยในการทำงานในสถานที่ก่อสร้าง</a:t>
            </a:r>
            <a:endParaRPr sz="2970"/>
          </a:p>
        </p:txBody>
      </p:sp>
      <p:sp>
        <p:nvSpPr>
          <p:cNvPr id="104" name="Google Shape;104;p2"/>
          <p:cNvSpPr txBox="1"/>
          <p:nvPr>
            <p:ph idx="1" type="body"/>
          </p:nvPr>
        </p:nvSpPr>
        <p:spPr>
          <a:xfrm>
            <a:off x="-325" y="1589265"/>
            <a:ext cx="75600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" sz="2000" u="sng">
                <a:latin typeface="Aharoni"/>
                <a:ea typeface="Aharoni"/>
                <a:cs typeface="Aharoni"/>
                <a:sym typeface="Aharoni"/>
              </a:rPr>
              <a:t>การทำงานบนที่สูง</a:t>
            </a:r>
            <a:endParaRPr sz="1800"/>
          </a:p>
        </p:txBody>
      </p:sp>
      <p:graphicFrame>
        <p:nvGraphicFramePr>
          <p:cNvPr id="105" name="Google Shape;105;p2"/>
          <p:cNvGraphicFramePr/>
          <p:nvPr/>
        </p:nvGraphicFramePr>
        <p:xfrm>
          <a:off x="157937" y="26945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{8D7BFAB6-880C-4DBA-8417-BE7CAEC0AE5A}</a:tableStyleId>
              </a:tblPr>
              <a:tblGrid>
                <a:gridCol w="1863550"/>
                <a:gridCol w="2129775"/>
                <a:gridCol w="3250825"/>
              </a:tblGrid>
              <a:tr h="1299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การตกจากที่สูงและนั่งร้าน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การตกจากอุปกรณ์ทำงานบนที่สูง เช่น แท่นและบันได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ไฟฟ้าช็อตที่ความสูง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พนักงานที่ไม่มีคุณสมบัติหรือทักษะในการทำงานบนที่สูง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อุปกรณ์ทำงานไม่ถูกต้อง/ไม่ถูกต้อง/ไม่เหมาะสม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ไม่มีราวกั้นมาตรฐานและปลอดภัยเพื่อป้องกันการตก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ความล้มเหลวที่จุดยึด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คำจำกัดความ: การทำงานบนที่สูงโดยมีความเสี่ยงที่จะตกถึงความลึก 2 เมตร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ไม่มีราวกั้นมาตรฐาน เอียงร่างกายเกินราวกั้นจากความสูงของอุปกรณ์ทำงานของตะกร้ายก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ตะกร้ายกนั่งร้านแบบใช้เครื่องจักร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อุปกรณ์ป้องกันภัยส่วนบุคคลและอุปกรณ์ช่วยในการทำงานบนที่สูง: จะได้รับการตรวจสอบก่อนใช้งาน ทำงานตามข้อบังคับการทำงานบนที่สูงและคำแนะนำของผู้ผลิต รายงานข้อบกพร่องหรือข้อบกพร่องใดๆ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บันได: ปีนขึ้นไปหนึ่งเมตรจากขอบด้านบน ห้ามเดิน ห้ามทำงานเป็นเวลานาน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แพลตฟอร์มนั่งร้านและตะกร้า: ทำงานโดยได้รับอนุญาตจากหัวหน้างาน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นั่งร้าน/พื้นผิวการทำงาน: ห้ามถอดประกอบชิ้นส่วน กว้างอย่างน้อย 60 ซม. ปีน/ลงจากบันได ห้ามวางบันไดบนนั่งร้าน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ทั่วไป: ทำงานในสภาพอากาศและสภาพแสงที่เหมาะสมสำหรับการทำงานและการใช้งานอุปกรณ์ จุดยึด 1.5 ตัน ทำงานที่ความสูงอย่างน้อยสองคน ต้องใช้หมวกนิรภัยพร้อมสายรัดนิรภัย สายรัดนิรภัยแบบเต็มตัว ระบบป้องกัน/พยุงตัวจากการตก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06" name="Google Shape;106;p2"/>
          <p:cNvSpPr txBox="1"/>
          <p:nvPr/>
        </p:nvSpPr>
        <p:spPr>
          <a:xfrm>
            <a:off x="0" y="2056467"/>
            <a:ext cx="1512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iw" sz="1200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บันไดชำรุด</a:t>
            </a:r>
            <a:endParaRPr b="1" i="0" sz="1200" u="none" cap="none" strike="noStrike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iw" sz="1200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ห้ามใช้</a:t>
            </a:r>
            <a:endParaRPr b="1" i="0" sz="1200" u="none" cap="none" strike="noStrike">
              <a:solidFill>
                <a:schemeClr val="dk1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07" name="Google Shape;107;p2"/>
          <p:cNvSpPr txBox="1"/>
          <p:nvPr/>
        </p:nvSpPr>
        <p:spPr>
          <a:xfrm>
            <a:off x="1329904" y="2048391"/>
            <a:ext cx="1161900" cy="3564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70"/>
              <a:buFont typeface="Arial"/>
              <a:buNone/>
            </a:pPr>
            <a:r>
              <a:rPr b="1" i="0" lang="iw" sz="1470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ระวังตก</a:t>
            </a:r>
            <a:endParaRPr b="0" i="0" sz="98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08" name="Google Shape;108;p2"/>
          <p:cNvPicPr preferRelativeResize="0"/>
          <p:nvPr/>
        </p:nvPicPr>
        <p:blipFill rotWithShape="1">
          <a:blip r:embed="rId3">
            <a:alphaModFix/>
          </a:blip>
          <a:srcRect b="0" l="0" r="60080" t="0"/>
          <a:stretch/>
        </p:blipFill>
        <p:spPr>
          <a:xfrm>
            <a:off x="302451" y="1430173"/>
            <a:ext cx="892907" cy="618217"/>
          </a:xfrm>
          <a:prstGeom prst="rect">
            <a:avLst/>
          </a:prstGeom>
          <a:noFill/>
          <a:ln>
            <a:noFill/>
          </a:ln>
        </p:spPr>
      </p:pic>
      <p:pic>
        <p:nvPicPr>
          <p:cNvPr id="109" name="Google Shape;109;p2"/>
          <p:cNvPicPr preferRelativeResize="0"/>
          <p:nvPr/>
        </p:nvPicPr>
        <p:blipFill rotWithShape="1">
          <a:blip r:embed="rId3">
            <a:alphaModFix/>
          </a:blip>
          <a:srcRect b="0" l="53635" r="0" t="0"/>
          <a:stretch/>
        </p:blipFill>
        <p:spPr>
          <a:xfrm>
            <a:off x="1378687" y="1453329"/>
            <a:ext cx="1037110" cy="618217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p2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w"/>
              <a:t>คำแนะนำด้านความปลอดภัยของพนักงาน</a:t>
            </a:r>
            <a:endParaRPr/>
          </a:p>
        </p:txBody>
      </p:sp>
      <p:pic>
        <p:nvPicPr>
          <p:cNvPr id="111" name="Google Shape;111;p2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3" y="-1"/>
            <a:ext cx="976391" cy="83202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15" name="Shape 1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16" name="Google Shape;116;p3"/>
          <p:cNvGraphicFramePr/>
          <p:nvPr/>
        </p:nvGraphicFramePr>
        <p:xfrm>
          <a:off x="157762" y="2511026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{8D7BFAB6-880C-4DBA-8417-BE7CAEC0AE5A}</a:tableStyleId>
              </a:tblPr>
              <a:tblGrid>
                <a:gridCol w="1863550"/>
                <a:gridCol w="2129775"/>
                <a:gridCol w="3250825"/>
              </a:tblGrid>
              <a:tr h="1299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แผลไหม้\การบาดเจ็บที่ดวงตา\ไฟไหม้จากอาร์กแฟลช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การใช้อุปกรณ์ไฟฟ้าที่ชำรุดหรือไม่ถูกต้อง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การซ่อมแซมโดยบุคคลที่ไม่ได้รับอนุญาต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ความเสียหายต่อสายเคเบิลและโครงสร้างพื้นฐานทางไฟฟ้า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ไฟฟ้าช็อตจากกระแสไฟฟ้าที่มีกระแสไฟฟ้าไหลผ่าน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สายไฟต่อพ่วงในสภาพแวดล้อมที่เปียกชื้น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อุปกรณ์ไฟฟ้า: การใช้งานตามวัตถุประสงค์การใช้งานและคำแนะนำของผู้ผลิต จะต้องได้รับการตรวจสอบโดยช่างไฟฟ้าที่ได้รับการรับรอง และก่อนใช้งาน หากใช้งานไม่ถูกต้อง ต้องหยุดงานและแจ้งให้หัวหน้างานทราบ ห้ามรื้อแผงกั้นและแผงกั้น ซ่อมแซมโดยผู้มีอำนาจ ห้ามใช้งานในสภาพแวดล้อมที่เปียกชื้น พนักงานต้องมีความรู้ในการใช้งานอุปกรณ์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สายไฟ: ฉนวนสองชั้น ไม่วางบนพื้นหรือในสภาพแวดล้อมที่เปียกชื้น เต้ารับ/ปลั๊กอุตสาหกรรม ป้อนผ่านท่อร้อยสาย เชื่อมต่อหลังจากใช้งานแล้ว ถอดปลั๊กออกก่อนพับเก็บ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งานไฟฟ้า: ไม่ใช้แรงดันไฟฟ้า อยู่ภายใต้การดูแลของช่างไฟฟ้าที่มีใบอนุญาต ล็อคแหล่งจ่ายไฟและปิดสวิตช์ ห้ามทำงานในสภาพแวดล้อมที่เปียกชื้น ไม่มีแสงสว่างเพียงพอ และในสภาพอากาศที่อันตราย รักษาระยะห่างอย่างน้อย 5 เมตรจากเครือข่ายไฟฟ้าเหนือศีรษะ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17" name="Google Shape;117;p3"/>
          <p:cNvSpPr txBox="1"/>
          <p:nvPr/>
        </p:nvSpPr>
        <p:spPr>
          <a:xfrm>
            <a:off x="116253" y="1582605"/>
            <a:ext cx="10788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75"/>
              <a:buFont typeface="Arial"/>
              <a:buNone/>
            </a:pPr>
            <a:r>
              <a:rPr b="1" i="0" lang="iw" sz="875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อันตราย!</a:t>
            </a:r>
            <a:endParaRPr b="1" i="0" sz="875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1" algn="ctr">
              <a:lnSpc>
                <a:spcPct val="7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875"/>
              <a:buFont typeface="Arial"/>
              <a:buNone/>
            </a:pPr>
            <a:r>
              <a:t/>
            </a:r>
            <a:endParaRPr b="1" i="0" sz="875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sp>
        <p:nvSpPr>
          <p:cNvPr id="118" name="Google Shape;118;p3"/>
          <p:cNvSpPr txBox="1"/>
          <p:nvPr/>
        </p:nvSpPr>
        <p:spPr>
          <a:xfrm>
            <a:off x="-160006" y="1140693"/>
            <a:ext cx="75600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iw" sz="2000" u="sng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ไฟฟ้าและอุปกรณ์ไฟฟ้าเคลื่อนที่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19" name="Google Shape;119;p3"/>
          <p:cNvPicPr preferRelativeResize="0"/>
          <p:nvPr/>
        </p:nvPicPr>
        <p:blipFill rotWithShape="1">
          <a:blip r:embed="rId3">
            <a:alphaModFix/>
          </a:blip>
          <a:srcRect b="0" l="0" r="54901" t="0"/>
          <a:stretch/>
        </p:blipFill>
        <p:spPr>
          <a:xfrm>
            <a:off x="157608" y="867710"/>
            <a:ext cx="966150" cy="668343"/>
          </a:xfrm>
          <a:prstGeom prst="rect">
            <a:avLst/>
          </a:prstGeom>
          <a:noFill/>
          <a:ln>
            <a:noFill/>
          </a:ln>
        </p:spPr>
      </p:pic>
      <p:pic>
        <p:nvPicPr>
          <p:cNvPr id="120" name="Google Shape;120;p3"/>
          <p:cNvPicPr preferRelativeResize="0"/>
          <p:nvPr/>
        </p:nvPicPr>
        <p:blipFill rotWithShape="1">
          <a:blip r:embed="rId3">
            <a:alphaModFix/>
          </a:blip>
          <a:srcRect b="0" l="59313" r="0" t="0"/>
          <a:stretch/>
        </p:blipFill>
        <p:spPr>
          <a:xfrm>
            <a:off x="1341685" y="867710"/>
            <a:ext cx="871649" cy="668343"/>
          </a:xfrm>
          <a:prstGeom prst="rect">
            <a:avLst/>
          </a:prstGeom>
          <a:noFill/>
          <a:ln>
            <a:noFill/>
          </a:ln>
        </p:spPr>
      </p:pic>
      <p:sp>
        <p:nvSpPr>
          <p:cNvPr id="121" name="Google Shape;121;p3"/>
          <p:cNvSpPr txBox="1"/>
          <p:nvPr/>
        </p:nvSpPr>
        <p:spPr>
          <a:xfrm>
            <a:off x="1329578" y="1582605"/>
            <a:ext cx="1078800" cy="395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iw" sz="1400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การป้องกันเป็นสิ่งสำคัญ!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122" name="Google Shape;122;p3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54123" y="-1"/>
            <a:ext cx="976391" cy="832021"/>
          </a:xfrm>
          <a:prstGeom prst="rect">
            <a:avLst/>
          </a:prstGeom>
          <a:noFill/>
          <a:ln>
            <a:noFill/>
          </a:ln>
        </p:spPr>
      </p:pic>
      <p:pic>
        <p:nvPicPr>
          <p:cNvPr id="123" name="Google Shape;123;p3"/>
          <p:cNvPicPr preferRelativeResize="0"/>
          <p:nvPr/>
        </p:nvPicPr>
        <p:blipFill rotWithShape="1">
          <a:blip r:embed="rId5">
            <a:alphaModFix/>
          </a:blip>
          <a:srcRect b="0" l="0" r="50000" t="0"/>
          <a:stretch/>
        </p:blipFill>
        <p:spPr>
          <a:xfrm>
            <a:off x="211810" y="6259035"/>
            <a:ext cx="955633" cy="659989"/>
          </a:xfrm>
          <a:prstGeom prst="rect">
            <a:avLst/>
          </a:prstGeom>
          <a:noFill/>
          <a:ln>
            <a:noFill/>
          </a:ln>
        </p:spPr>
      </p:pic>
      <p:pic>
        <p:nvPicPr>
          <p:cNvPr id="124" name="Google Shape;124;p3"/>
          <p:cNvPicPr preferRelativeResize="0"/>
          <p:nvPr/>
        </p:nvPicPr>
        <p:blipFill rotWithShape="1">
          <a:blip r:embed="rId5">
            <a:alphaModFix/>
          </a:blip>
          <a:srcRect b="0" l="54398" r="0" t="0"/>
          <a:stretch/>
        </p:blipFill>
        <p:spPr>
          <a:xfrm>
            <a:off x="1316079" y="6259035"/>
            <a:ext cx="871537" cy="659989"/>
          </a:xfrm>
          <a:prstGeom prst="rect">
            <a:avLst/>
          </a:prstGeom>
          <a:noFill/>
          <a:ln>
            <a:noFill/>
          </a:ln>
        </p:spPr>
      </p:pic>
      <p:sp>
        <p:nvSpPr>
          <p:cNvPr id="125" name="Google Shape;125;p3"/>
          <p:cNvSpPr txBox="1"/>
          <p:nvPr/>
        </p:nvSpPr>
        <p:spPr>
          <a:xfrm>
            <a:off x="2527819" y="6357475"/>
            <a:ext cx="4815786" cy="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iw" sz="2000" u="sng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งานยกของ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26" name="Google Shape;126;p3"/>
          <p:cNvGraphicFramePr/>
          <p:nvPr/>
        </p:nvGraphicFramePr>
        <p:xfrm>
          <a:off x="155844" y="713824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{8D7BFAB6-880C-4DBA-8417-BE7CAEC0AE5A}</a:tableStyleId>
              </a:tblPr>
              <a:tblGrid>
                <a:gridCol w="1863550"/>
                <a:gridCol w="2129775"/>
                <a:gridCol w="3250825"/>
              </a:tblGrid>
              <a:tr h="1299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การบาดเจ็บทางร่างกาย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การบาดเจ็บที่แขนขา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การถูกทับ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การบาดเจ็บที่ศีรษะ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อุปกรณ์ยก/อุปกรณ์เสริมชำรุด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การบาดเจ็บของคนงานจากน้ำหนักบรรทุกที่ยกขึ้น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ชิ้นส่วนที่บรรทุกตก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37598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อุปกรณ์ยกและอุปกรณ์เสริมสำหรับยก: จะได้รับการตรวจสอบโดยผู้ตรวจสอบที่มีคุณสมบัติเหมาะสม และก่อนใช้งาน จะดำเนินการโดยผู้ปฏิบัติงานที่มีใบอนุญาตและมีประสบการณ์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37598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งานยก: ได้รับการอนุมัติจากหัวหน้างาน กั้นรั้วบริเวณที่ยก ผูกและนำทางด้วยพลั่ว ห้ามทำงานภายใต้น้ำหนักบรรทุกที่ยกขึ้น ยกของสูงจากพื้นหนึ่งเมตร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37598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การป้องกันชิ้นส่วนตก: ยกด้วยเครื่องมือที่กำหนด ผูกและยึดน้ำหนักบรรทุก ทำงานอย่างระมัดระวังและตั้งฉาก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37598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None/>
                      </a:pPr>
                      <a:r>
                        <a:t/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cxnSp>
        <p:nvCxnSpPr>
          <p:cNvPr id="127" name="Google Shape;127;p3"/>
          <p:cNvCxnSpPr/>
          <p:nvPr/>
        </p:nvCxnSpPr>
        <p:spPr>
          <a:xfrm>
            <a:off x="8119" y="6066906"/>
            <a:ext cx="75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28" name="Google Shape;128;p3"/>
          <p:cNvSpPr txBox="1"/>
          <p:nvPr/>
        </p:nvSpPr>
        <p:spPr>
          <a:xfrm>
            <a:off x="8119" y="6869784"/>
            <a:ext cx="2519700" cy="3177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rgbClr val="FF0000"/>
              </a:buClr>
              <a:buSzPts val="1200"/>
              <a:buFont typeface="Arial"/>
              <a:buNone/>
            </a:pPr>
            <a:r>
              <a:rPr b="1" i="0" lang="iw" sz="12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อันตราย! ห้ามยืนใต้สิ่งของที่ยกสูง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2" name="Shape 13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" name="Google Shape;133;p4"/>
          <p:cNvSpPr txBox="1"/>
          <p:nvPr>
            <p:ph type="title"/>
          </p:nvPr>
        </p:nvSpPr>
        <p:spPr>
          <a:xfrm>
            <a:off x="0" y="908326"/>
            <a:ext cx="75600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haroni"/>
              <a:buNone/>
            </a:pPr>
            <a:r>
              <a:rPr b="1" lang="iw" sz="2160" u="sng">
                <a:latin typeface="Aharoni"/>
                <a:ea typeface="Aharoni"/>
                <a:cs typeface="Aharoni"/>
                <a:sym typeface="Aharoni"/>
              </a:rPr>
              <a:t>สรุปการฝึกอบรมด้านความปลอดภัยและคำแนะนำด้านความปลอดภัยในการทำงานในสถานที่ก่อสร้าง</a:t>
            </a:r>
            <a:endParaRPr sz="2970"/>
          </a:p>
        </p:txBody>
      </p:sp>
      <p:sp>
        <p:nvSpPr>
          <p:cNvPr id="134" name="Google Shape;134;p4"/>
          <p:cNvSpPr txBox="1"/>
          <p:nvPr>
            <p:ph idx="1" type="body"/>
          </p:nvPr>
        </p:nvSpPr>
        <p:spPr>
          <a:xfrm>
            <a:off x="-301168" y="1781359"/>
            <a:ext cx="75483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" sz="2000" u="sng">
                <a:latin typeface="Aharoni"/>
                <a:ea typeface="Aharoni"/>
                <a:cs typeface="Aharoni"/>
                <a:sym typeface="Aharoni"/>
              </a:rPr>
              <a:t>การขุดค้น</a:t>
            </a:r>
            <a:endParaRPr sz="1800"/>
          </a:p>
        </p:txBody>
      </p:sp>
      <p:graphicFrame>
        <p:nvGraphicFramePr>
          <p:cNvPr id="135" name="Google Shape;135;p4"/>
          <p:cNvGraphicFramePr/>
          <p:nvPr/>
        </p:nvGraphicFramePr>
        <p:xfrm>
          <a:off x="157937" y="269455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{8D7BFAB6-880C-4DBA-8417-BE7CAEC0AE5A}</a:tableStyleId>
              </a:tblPr>
              <a:tblGrid>
                <a:gridCol w="1863550"/>
                <a:gridCol w="2129775"/>
                <a:gridCol w="3250825"/>
              </a:tblGrid>
              <a:tr h="1299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3100"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พลัดตก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การพังทลายของพื้นที่ขุด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การถูกกระแทก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คนงานตกลงไปในหลุมขุด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หลุมขุดถล่ม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โครงสร้างพื้นฐานเสียหาย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อุปกรณ์ก่อสร้างพลิกคว่ำ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รถไถตีนตะขาบชน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การขุดจะต้องดำเนินการโดยได้รับอนุมัติจากหัวหน้างาน และหลังจากการสแกนโครงสร้างพื้นฐานและสัตว์แล้ว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การทำงานใกล้โครงสร้างพื้นฐานด้วยเครื่องมือช่างและด้วยความระมัดระวัง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การขึ้นและลงจากจุดที่กำหนด ต้องมีรั้วและป้ายบอกทางสำหรับการขุด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การขุดต้องเป็นไปตามความลาดชันตามธรรมชาติ/การถมดิน และใช้มาตรการป้องกันการพังทลาย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ความกว้างของการขุดต้องเอื้ออำนวยต่อการทำงาน ทางเดินเหนือพื้นที่ขุดต้องกว้าง 60 ซม.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อุปกรณ์วิศวกรรมต้องเข้าใกล้ในระยะที่ปลอดภัย คนงานต้องไม่ทำงานใกล้กับอุปกรณ์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36" name="Google Shape;136;p4"/>
          <p:cNvSpPr txBox="1"/>
          <p:nvPr/>
        </p:nvSpPr>
        <p:spPr>
          <a:xfrm>
            <a:off x="29643" y="1867663"/>
            <a:ext cx="1407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iw" sz="13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อันตราย!</a:t>
            </a:r>
            <a:endParaRPr b="1" i="0" sz="13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iw" sz="13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เปิดช่อง</a:t>
            </a:r>
            <a:endParaRPr b="1" i="0" sz="13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137" name="Google Shape;137;p4"/>
          <p:cNvCxnSpPr/>
          <p:nvPr/>
        </p:nvCxnSpPr>
        <p:spPr>
          <a:xfrm>
            <a:off x="-54448" y="6882024"/>
            <a:ext cx="75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38" name="Google Shape;138;p4"/>
          <p:cNvSpPr txBox="1"/>
          <p:nvPr/>
        </p:nvSpPr>
        <p:spPr>
          <a:xfrm>
            <a:off x="1406730" y="7268713"/>
            <a:ext cx="1224900" cy="526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400"/>
              <a:buFont typeface="Arial"/>
              <a:buNone/>
            </a:pPr>
            <a:r>
              <a:rPr b="1" i="0" lang="iw" sz="1400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ห้ามจุดไฟ เปลวไฟ และการสูบบุหรี่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9" name="Google Shape;139;p4"/>
          <p:cNvSpPr txBox="1"/>
          <p:nvPr/>
        </p:nvSpPr>
        <p:spPr>
          <a:xfrm>
            <a:off x="-104615" y="7252482"/>
            <a:ext cx="7574400" cy="490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iw" sz="2000" u="sng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งานยอดนิยม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40" name="Google Shape;140;p4"/>
          <p:cNvGraphicFramePr/>
          <p:nvPr/>
        </p:nvGraphicFramePr>
        <p:xfrm>
          <a:off x="225635" y="8180351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{8D7BFAB6-880C-4DBA-8417-BE7CAEC0AE5A}</a:tableStyleId>
              </a:tblPr>
              <a:tblGrid>
                <a:gridCol w="1863550"/>
                <a:gridCol w="2129775"/>
                <a:gridCol w="3250825"/>
              </a:tblGrid>
              <a:tr h="1299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การบาดเจ็บที่ดวงตา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แผลไหม้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ไฟไหม้/ไฟไหม้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การระเบิด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0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ไฟฟ้าช็อต</a:t>
                      </a:r>
                      <a:endParaRPr b="0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การใช้อุปกรณ์ป้องกันภัยส่วนบุคคลอย่างไม่เหมาะสม, อุปกรณ์ขัดข้อง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ถังแก๊สระเบิด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เพลิงไหม้พนักงาน/อุปกรณ์/สิ่งแวดล้อม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งานร้อน: หลังจากได้รับการอนุมัติจากหัวหน้างานแล้ว ควรมีการป้องกันโครงสร้างพื้นฐาน อุปกรณ์ป้องกันภัยส่วนบุคคลที่เหมาะสม เฝ้าระวังเพลิงไหม้ในพื้นที่ระหว่างและหลังการปฏิบัติงาน จัดเก็บวัสดุไวไฟ/ติดไฟได้ให้ห่างจากพื้นที่อย่างน้อย 10 เมตร จัดเตรียมอุปกรณ์ดับเพลิงที่เหมาะสม เก็บสายไฟฟ้าให้ห่างจากพื้นที่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ถังแก๊ส: ใช้งานโดยช่างผู้ชำนาญ ขนส่งอย่างปลอดภัย ติดตั้งในแนวตั้งฉากกับพื้น ใช้ฝาปิด ป้องกันน้ำมันให้ห่างจากแหล่งความร้อน ติดตั้งท่อที่เหมาะสมพร้อมอุปกรณ์นิรภัยที่ได้มาตรฐาน ถูกต้อง และใช้งานได้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41" name="Google Shape;141;p4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12543" y="1336293"/>
            <a:ext cx="868725" cy="626531"/>
          </a:xfrm>
          <a:prstGeom prst="rect">
            <a:avLst/>
          </a:prstGeom>
          <a:noFill/>
          <a:ln>
            <a:noFill/>
          </a:ln>
        </p:spPr>
      </p:pic>
      <p:pic>
        <p:nvPicPr>
          <p:cNvPr id="142" name="Google Shape;142;p4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1097" y="7188340"/>
            <a:ext cx="955633" cy="748235"/>
          </a:xfrm>
          <a:prstGeom prst="rect">
            <a:avLst/>
          </a:prstGeom>
          <a:noFill/>
          <a:ln>
            <a:noFill/>
          </a:ln>
        </p:spPr>
      </p:pic>
      <p:pic>
        <p:nvPicPr>
          <p:cNvPr id="143" name="Google Shape;143;p4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23" y="-1"/>
            <a:ext cx="874791" cy="864507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Google Shape;148;p5"/>
          <p:cNvSpPr txBox="1"/>
          <p:nvPr>
            <p:ph type="title"/>
          </p:nvPr>
        </p:nvSpPr>
        <p:spPr>
          <a:xfrm>
            <a:off x="0" y="908326"/>
            <a:ext cx="7560000" cy="3663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160"/>
              <a:buFont typeface="Aharoni"/>
              <a:buNone/>
            </a:pPr>
            <a:r>
              <a:rPr b="1" lang="iw" sz="2160" u="sng">
                <a:latin typeface="Aharoni"/>
                <a:ea typeface="Aharoni"/>
                <a:cs typeface="Aharoni"/>
                <a:sym typeface="Aharoni"/>
              </a:rPr>
              <a:t>สรุปการฝึกอบรมด้านความปลอดภัยและคำแนะนำด้านความปลอดภัยในการทำงานในสถานที่ก่อสร้าง</a:t>
            </a:r>
            <a:endParaRPr sz="2970"/>
          </a:p>
        </p:txBody>
      </p:sp>
      <p:sp>
        <p:nvSpPr>
          <p:cNvPr id="149" name="Google Shape;149;p5"/>
          <p:cNvSpPr txBox="1"/>
          <p:nvPr>
            <p:ph idx="1" type="body"/>
          </p:nvPr>
        </p:nvSpPr>
        <p:spPr>
          <a:xfrm>
            <a:off x="-36779" y="1587963"/>
            <a:ext cx="7536600" cy="4911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None/>
            </a:pPr>
            <a:r>
              <a:rPr lang="iw" sz="2000" u="sng">
                <a:latin typeface="Aharoni"/>
                <a:ea typeface="Aharoni"/>
                <a:cs typeface="Aharoni"/>
                <a:sym typeface="Aharoni"/>
              </a:rPr>
              <a:t>วัสดุอันตราย</a:t>
            </a:r>
            <a:endParaRPr sz="1800"/>
          </a:p>
        </p:txBody>
      </p:sp>
      <p:graphicFrame>
        <p:nvGraphicFramePr>
          <p:cNvPr id="150" name="Google Shape;150;p5"/>
          <p:cNvGraphicFramePr/>
          <p:nvPr/>
        </p:nvGraphicFramePr>
        <p:xfrm>
          <a:off x="157763" y="2579713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{8D7BFAB6-880C-4DBA-8417-BE7CAEC0AE5A}</a:tableStyleId>
              </a:tblPr>
              <a:tblGrid>
                <a:gridCol w="1863550"/>
                <a:gridCol w="2129775"/>
                <a:gridCol w="3250825"/>
              </a:tblGrid>
              <a:tr h="129925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ผลกระทบเชิงลบ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ความล้มเหลว/สถานการณ์เชิงลบ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การกำจัด/ลดความเสี่ยง/การป้องกัน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933100"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สำลัก/เวียนศีรษะ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แผลไฟไหม้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ไฟไหม้/ระเบิด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โรคจากการประกอบอาชีพ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การใช้สารที่เป็นอันตรายต่อสุขภาพ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อุปกรณ์ป้องกันส่วนบุคคลไม่เหมาะสมกับอันตราย/ไม่เหมาะสม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การทำงานในบริเวณที่ไม่มีการระบายอากาศ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ใช้สารเคมีหลังจากได้รับคำแนะนำด้านความปลอดภัยตามเอกสารข้อมูลความปลอดภัยของวัสดุ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ทำงานโดยใช้อุปกรณ์ป้องกันภัยส่วนบุคคลตามเอกสารข้อมูลความปลอดภัยของวัสดุ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ระบายอากาศในสถานที่ทำงานและป้องกันไฟให้ห่างจากวัสดุไวไฟ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ทำลายบรรจุภัณฑ์/ภาชนะเปล่าหลังการใช้งาน และอย่าทิ้งไว้ในพื้นที่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151" name="Google Shape;151;p5"/>
          <p:cNvSpPr txBox="1"/>
          <p:nvPr/>
        </p:nvSpPr>
        <p:spPr>
          <a:xfrm>
            <a:off x="59854" y="1881569"/>
            <a:ext cx="1407000" cy="5619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iw" sz="13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อันตราย!</a:t>
            </a:r>
            <a:endParaRPr b="1" i="0" sz="13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  <a:p>
            <a:pPr indent="0" lvl="0" marL="0" marR="0" rtl="1" algn="ctr">
              <a:lnSpc>
                <a:spcPct val="90000"/>
              </a:lnSpc>
              <a:spcBef>
                <a:spcPts val="75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iw" sz="1300" u="none" cap="none" strike="noStrike">
                <a:solidFill>
                  <a:srgbClr val="FF0000"/>
                </a:solidFill>
                <a:latin typeface="Aharoni"/>
                <a:ea typeface="Aharoni"/>
                <a:cs typeface="Aharoni"/>
                <a:sym typeface="Aharoni"/>
              </a:rPr>
              <a:t>วัสดุอันตราย</a:t>
            </a:r>
            <a:endParaRPr b="1" i="0" sz="1300" u="none" cap="none" strike="noStrike">
              <a:solidFill>
                <a:srgbClr val="FF0000"/>
              </a:solidFill>
              <a:latin typeface="Aharoni"/>
              <a:ea typeface="Aharoni"/>
              <a:cs typeface="Aharoni"/>
              <a:sym typeface="Aharoni"/>
            </a:endParaRPr>
          </a:p>
        </p:txBody>
      </p:sp>
      <p:cxnSp>
        <p:nvCxnSpPr>
          <p:cNvPr id="152" name="Google Shape;152;p5"/>
          <p:cNvCxnSpPr/>
          <p:nvPr/>
        </p:nvCxnSpPr>
        <p:spPr>
          <a:xfrm>
            <a:off x="-325" y="4639851"/>
            <a:ext cx="7560000" cy="0"/>
          </a:xfrm>
          <a:prstGeom prst="straightConnector1">
            <a:avLst/>
          </a:prstGeom>
          <a:noFill/>
          <a:ln cap="flat" cmpd="sng" w="38100">
            <a:solidFill>
              <a:schemeClr val="dk1"/>
            </a:solidFill>
            <a:prstDash val="solid"/>
            <a:miter lim="800000"/>
            <a:headEnd len="sm" w="sm" type="none"/>
            <a:tailEnd len="sm" w="sm" type="none"/>
          </a:ln>
        </p:spPr>
      </p:cxnSp>
      <p:sp>
        <p:nvSpPr>
          <p:cNvPr id="153" name="Google Shape;153;p5"/>
          <p:cNvSpPr txBox="1"/>
          <p:nvPr/>
        </p:nvSpPr>
        <p:spPr>
          <a:xfrm>
            <a:off x="129533" y="5672825"/>
            <a:ext cx="3188400" cy="3630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ct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300"/>
              <a:buFont typeface="Arial"/>
              <a:buNone/>
            </a:pPr>
            <a:r>
              <a:rPr b="1" i="0" lang="iw" sz="1300" u="none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การยกที่ถูกต้องช่วยป้องกันความทุกข์ทรมานได้มาก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54" name="Google Shape;154;p5"/>
          <p:cNvSpPr txBox="1"/>
          <p:nvPr/>
        </p:nvSpPr>
        <p:spPr>
          <a:xfrm>
            <a:off x="-133740" y="5054543"/>
            <a:ext cx="7560000" cy="5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Autofit/>
          </a:bodyPr>
          <a:lstStyle/>
          <a:p>
            <a:pPr indent="0" lvl="0" marL="0" marR="0" rtl="1" algn="r">
              <a:lnSpc>
                <a:spcPct val="9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</a:pPr>
            <a:r>
              <a:rPr b="0" i="0" lang="iw" sz="2000" u="sng" cap="none" strike="noStrike">
                <a:solidFill>
                  <a:schemeClr val="dk1"/>
                </a:solidFill>
                <a:latin typeface="Aharoni"/>
                <a:ea typeface="Aharoni"/>
                <a:cs typeface="Aharoni"/>
                <a:sym typeface="Aharoni"/>
              </a:rPr>
              <a:t>แนวทางความปลอดภัยทั่วไป</a:t>
            </a:r>
            <a:endParaRPr b="0" i="0" sz="11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155" name="Google Shape;155;p5"/>
          <p:cNvGraphicFramePr/>
          <p:nvPr/>
        </p:nvGraphicFramePr>
        <p:xfrm>
          <a:off x="129533" y="6108300"/>
          <a:ext cx="3000000" cy="3000000"/>
        </p:xfrm>
        <a:graphic>
          <a:graphicData uri="http://schemas.openxmlformats.org/drawingml/2006/table">
            <a:tbl>
              <a:tblPr bandRow="1" firstCol="1" firstRow="1">
                <a:noFill/>
                <a:tableStyleId>{8D7BFAB6-880C-4DBA-8417-BE7CAEC0AE5A}</a:tableStyleId>
              </a:tblPr>
              <a:tblGrid>
                <a:gridCol w="3605650"/>
                <a:gridCol w="3638450"/>
              </a:tblGrid>
              <a:tr h="129450"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ทำ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1" algn="ct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039"/>
                        <a:buFont typeface="Arial"/>
                        <a:buNone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อย่า</a:t>
                      </a:r>
                      <a:endParaRPr sz="1039" u="none" cap="none" strike="noStrike">
                        <a:solidFill>
                          <a:schemeClr val="dk1"/>
                        </a:solidFill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081825"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เข้าสู่พื้นที่ปฏิบัติงานผ่านทางเข้าที่กำหนด และระมัดระวังอุปกรณ์วิศวกรรม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ปฏิบัติตามป้ายเตือนในพื้นที่ปฏิบัติงาน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ยกอุปกรณ์และวัสดุให้ชิดลำตัวและน้ำหนักไม่เกิน 25 กิโลกรัม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เริ่มยกโดยงอเข่า ใช้คนงานเพิ่ม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ปิดช่องเปิดและหลุมเพื่อป้องกันไม่ให้คนงานตก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รายงานข้อบกพร่อง อันตราย อันตราย/เหตุการณ์อันตราย/อุบัติเหตุใดๆ ต่อฝ่ายความปลอดภัยและอาชีวอนามัย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ปรึกษาหัวหน้างานฝ่ายความปลอดภัยและอาชีวอนามัยเกี่ยวกับงานใดๆ ที่คุณไม่เข้าใจ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อยู่ในพื้นที่ปฏิบัติงานตราบเท่าที่หัวหน้างานอยู่ในพื้นที่ปฏิบัติงาน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อย่าทำงานที่สูงหรือต่ำกว่าคนงานอื่น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หากต้องการปฐมพยาบาล โปรดติดต่อหัวหน้างาน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ตรวจสอบให้แน่ใจว่ามีแสงสว่างเพียงพอเพื่อปฏิบัติงานอย่างปลอดภัย</a:t>
                      </a:r>
                      <a:endParaRPr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ห้ามใช้โทรศัพท์ขณะเดินหรือปฏิบัติงาน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ห้ามซ่อมแซม/ใช้งานอุปกรณ์ที่ไม่คุ้นเคย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ห้ามกระทำการใดๆ ที่อาจก่อให้เกิดอันตรายแก่ตนเองหรือผู้อื่นโดยเจตนา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ห้ามใช้อุปกรณ์ที่ไม่ทำงานอย่างถูกต้องหรือไม่เหมาะสมกับงาน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ห้ามรื้อราวบันได/รั้วโดยไม่ได้รับอนุญาตจากหัวหน้างาน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ห้ามทิ้งวัสดุ/อุปกรณ์ ต้องปล่อยลงอย่างควบคุม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ห้ามกระโดด/ปีนข้ามนั่งร้านหรือบันได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ห้ามบรรทุกน้ำหนักเกินน้ำหนักที่อนุญาต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ห้ามทำงานในสถานที่ที่มีความเสี่ยงต่อการตก และไม่มีวิธีป้องกันการตก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ห้ามปฏิบัติงานหากไม่ชัดเจนในเชิงวิชาชีพและความปลอดภัย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  <a:p>
                      <a:pPr indent="-290399" lvl="0" marL="290399" marR="0" rtl="1" algn="r">
                        <a:lnSpc>
                          <a:spcPct val="107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039"/>
                        <a:buFont typeface="Noto Sans Symbols"/>
                        <a:buChar char="∙"/>
                      </a:pPr>
                      <a:r>
                        <a:rPr b="1" lang="iw" sz="1039" u="none" cap="none" strike="noStrike">
                          <a:latin typeface="Aharoni"/>
                          <a:ea typeface="Aharoni"/>
                          <a:cs typeface="Aharoni"/>
                          <a:sym typeface="Aharoni"/>
                        </a:rPr>
                        <a:t>ห้ามปฏิบัติงานเพียงลำพัง</a:t>
                      </a:r>
                      <a:endParaRPr b="1" sz="1039" u="none" cap="none" strike="noStrike">
                        <a:latin typeface="Aharoni"/>
                        <a:ea typeface="Aharoni"/>
                        <a:cs typeface="Aharoni"/>
                        <a:sym typeface="Aharoni"/>
                      </a:endParaRPr>
                    </a:p>
                  </a:txBody>
                  <a:tcPr marT="0" marB="0" marR="71900" marL="71900">
                    <a:lnL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12700">
                      <a:solidFill>
                        <a:schemeClr val="dk1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pic>
        <p:nvPicPr>
          <p:cNvPr id="156" name="Google Shape;156;p5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301242" y="1305172"/>
            <a:ext cx="863885" cy="701416"/>
          </a:xfrm>
          <a:prstGeom prst="rect">
            <a:avLst/>
          </a:prstGeom>
          <a:noFill/>
          <a:ln>
            <a:noFill/>
          </a:ln>
        </p:spPr>
      </p:pic>
      <p:pic>
        <p:nvPicPr>
          <p:cNvPr id="157" name="Google Shape;157;p5"/>
          <p:cNvPicPr preferRelativeResize="0"/>
          <p:nvPr/>
        </p:nvPicPr>
        <p:blipFill rotWithShape="1">
          <a:blip r:embed="rId4">
            <a:alphaModFix/>
          </a:blip>
          <a:srcRect b="0" l="0" r="0" t="0"/>
          <a:stretch/>
        </p:blipFill>
        <p:spPr>
          <a:xfrm>
            <a:off x="455233" y="4847712"/>
            <a:ext cx="2392428" cy="836144"/>
          </a:xfrm>
          <a:prstGeom prst="rect">
            <a:avLst/>
          </a:prstGeom>
          <a:noFill/>
          <a:ln>
            <a:noFill/>
          </a:ln>
        </p:spPr>
      </p:pic>
      <p:sp>
        <p:nvSpPr>
          <p:cNvPr id="158" name="Google Shape;158;p5"/>
          <p:cNvSpPr txBox="1"/>
          <p:nvPr>
            <p:ph idx="11" type="ftr"/>
          </p:nvPr>
        </p:nvSpPr>
        <p:spPr>
          <a:xfrm>
            <a:off x="2504251" y="9909903"/>
            <a:ext cx="2551500" cy="5691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/>
          <a:p>
            <a:pPr indent="0" lvl="0" marL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</a:pPr>
            <a:r>
              <a:rPr lang="iw"/>
              <a:t>คำแนะนำด้านความปลอดภัยของพนักงาน</a:t>
            </a:r>
            <a:endParaRPr/>
          </a:p>
        </p:txBody>
      </p:sp>
      <p:pic>
        <p:nvPicPr>
          <p:cNvPr id="159" name="Google Shape;159;p5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54123" y="0"/>
            <a:ext cx="802220" cy="884268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ערכת נושא Office">
  <a:themeElements>
    <a:clrScheme name="ערכת נושא 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Mark Bazanov</dc:creator>
</cp:coreProperties>
</file>